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0" r:id="rId1"/>
    <p:sldMasterId id="2147483741" r:id="rId2"/>
  </p:sldMasterIdLst>
  <p:notesMasterIdLst>
    <p:notesMasterId r:id="rId13"/>
  </p:notesMasterIdLst>
  <p:sldIdLst>
    <p:sldId id="256" r:id="rId3"/>
    <p:sldId id="257" r:id="rId4"/>
    <p:sldId id="258" r:id="rId5"/>
    <p:sldId id="259" r:id="rId6"/>
    <p:sldId id="260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94" d="100"/>
          <a:sy n="94" d="100"/>
        </p:scale>
        <p:origin x="618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7F2D31A-FD99-4470-A2A2-6EEE6043DDD5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EB12257-5544-43E4-8668-ACD927688E57}">
      <dgm:prSet/>
      <dgm:spPr/>
      <dgm:t>
        <a:bodyPr/>
        <a:lstStyle/>
        <a:p>
          <a:r>
            <a:rPr lang="en-US" dirty="0"/>
            <a:t>Where should we invest to strengthen pricing power? </a:t>
          </a:r>
        </a:p>
      </dgm:t>
    </dgm:pt>
    <dgm:pt modelId="{09566832-6DC8-4A43-AB3E-270C74A5D831}" type="parTrans" cxnId="{BAB0AEA0-FF20-40A2-9BEF-E1D517A9860C}">
      <dgm:prSet/>
      <dgm:spPr/>
      <dgm:t>
        <a:bodyPr/>
        <a:lstStyle/>
        <a:p>
          <a:endParaRPr lang="en-US"/>
        </a:p>
      </dgm:t>
    </dgm:pt>
    <dgm:pt modelId="{3EF0B658-18DD-4FFF-9A3B-96CD845DC11F}" type="sibTrans" cxnId="{BAB0AEA0-FF20-40A2-9BEF-E1D517A9860C}">
      <dgm:prSet/>
      <dgm:spPr/>
      <dgm:t>
        <a:bodyPr/>
        <a:lstStyle/>
        <a:p>
          <a:endParaRPr lang="en-US"/>
        </a:p>
      </dgm:t>
    </dgm:pt>
    <dgm:pt modelId="{0400606C-3D4D-48C9-90CC-B071FCBE940A}">
      <dgm:prSet/>
      <dgm:spPr/>
      <dgm:t>
        <a:bodyPr/>
        <a:lstStyle/>
        <a:p>
          <a:r>
            <a:rPr lang="en-US" dirty="0"/>
            <a:t>Are we underpricing compared to other U.S. ski resorts? </a:t>
          </a:r>
        </a:p>
      </dgm:t>
    </dgm:pt>
    <dgm:pt modelId="{724C8572-8D5C-4D82-B582-20F1A1FF0E47}" type="parTrans" cxnId="{0CDB3DCE-06BD-48E7-8326-A84CA8A7A4F3}">
      <dgm:prSet/>
      <dgm:spPr/>
      <dgm:t>
        <a:bodyPr/>
        <a:lstStyle/>
        <a:p>
          <a:endParaRPr lang="en-US"/>
        </a:p>
      </dgm:t>
    </dgm:pt>
    <dgm:pt modelId="{8E0A57CB-53BD-4370-95F5-C70DFB1ABEE6}" type="sibTrans" cxnId="{0CDB3DCE-06BD-48E7-8326-A84CA8A7A4F3}">
      <dgm:prSet/>
      <dgm:spPr/>
      <dgm:t>
        <a:bodyPr/>
        <a:lstStyle/>
        <a:p>
          <a:endParaRPr lang="en-US"/>
        </a:p>
      </dgm:t>
    </dgm:pt>
    <dgm:pt modelId="{12F3CA87-A02F-4AA7-8F90-6C56C87ED01B}">
      <dgm:prSet/>
      <dgm:spPr/>
      <dgm:t>
        <a:bodyPr/>
        <a:lstStyle/>
        <a:p>
          <a:r>
            <a:rPr lang="en-US"/>
            <a:t>What resort features most influence ticket prices? </a:t>
          </a:r>
          <a:endParaRPr lang="en-US" dirty="0"/>
        </a:p>
      </dgm:t>
    </dgm:pt>
    <dgm:pt modelId="{D527202A-75F3-4656-8422-6C81B9957538}" type="parTrans" cxnId="{AD46916C-1A7D-49EB-9800-28A797909644}">
      <dgm:prSet/>
      <dgm:spPr/>
      <dgm:t>
        <a:bodyPr/>
        <a:lstStyle/>
        <a:p>
          <a:endParaRPr lang="en-US"/>
        </a:p>
      </dgm:t>
    </dgm:pt>
    <dgm:pt modelId="{08930504-103C-4630-BCFF-068C2033EACA}" type="sibTrans" cxnId="{AD46916C-1A7D-49EB-9800-28A797909644}">
      <dgm:prSet/>
      <dgm:spPr/>
      <dgm:t>
        <a:bodyPr/>
        <a:lstStyle/>
        <a:p>
          <a:endParaRPr lang="en-US"/>
        </a:p>
      </dgm:t>
    </dgm:pt>
    <dgm:pt modelId="{4EDA9ECB-5BE4-4B04-ADF2-ED8604E4ABBC}" type="pres">
      <dgm:prSet presAssocID="{27F2D31A-FD99-4470-A2A2-6EEE6043DDD5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CD4917D6-6A3A-43E7-817F-EBEF4F824112}" type="pres">
      <dgm:prSet presAssocID="{0400606C-3D4D-48C9-90CC-B071FCBE940A}" presName="hierRoot1" presStyleCnt="0"/>
      <dgm:spPr/>
    </dgm:pt>
    <dgm:pt modelId="{F89ED39C-CC91-4E1D-84F8-C4979316670F}" type="pres">
      <dgm:prSet presAssocID="{0400606C-3D4D-48C9-90CC-B071FCBE940A}" presName="composite" presStyleCnt="0"/>
      <dgm:spPr/>
    </dgm:pt>
    <dgm:pt modelId="{3B7B2BDE-D6FD-4E9B-9B69-BB786A779BED}" type="pres">
      <dgm:prSet presAssocID="{0400606C-3D4D-48C9-90CC-B071FCBE940A}" presName="background" presStyleLbl="node0" presStyleIdx="0" presStyleCnt="3"/>
      <dgm:spPr/>
    </dgm:pt>
    <dgm:pt modelId="{3BB2F065-B28B-4D0F-B5E8-692F2A1D385E}" type="pres">
      <dgm:prSet presAssocID="{0400606C-3D4D-48C9-90CC-B071FCBE940A}" presName="text" presStyleLbl="fgAcc0" presStyleIdx="0" presStyleCnt="3">
        <dgm:presLayoutVars>
          <dgm:chPref val="3"/>
        </dgm:presLayoutVars>
      </dgm:prSet>
      <dgm:spPr/>
    </dgm:pt>
    <dgm:pt modelId="{ABC26D38-EA22-40BE-BD73-065FAACAB84A}" type="pres">
      <dgm:prSet presAssocID="{0400606C-3D4D-48C9-90CC-B071FCBE940A}" presName="hierChild2" presStyleCnt="0"/>
      <dgm:spPr/>
    </dgm:pt>
    <dgm:pt modelId="{8969199D-0AF3-4DE5-8F1E-C59218DD9E6E}" type="pres">
      <dgm:prSet presAssocID="{12F3CA87-A02F-4AA7-8F90-6C56C87ED01B}" presName="hierRoot1" presStyleCnt="0"/>
      <dgm:spPr/>
    </dgm:pt>
    <dgm:pt modelId="{5733F6E3-64B6-4944-B8A5-0761646DAB26}" type="pres">
      <dgm:prSet presAssocID="{12F3CA87-A02F-4AA7-8F90-6C56C87ED01B}" presName="composite" presStyleCnt="0"/>
      <dgm:spPr/>
    </dgm:pt>
    <dgm:pt modelId="{22E31B0C-BE6C-4B58-B13E-C0C31EB8F467}" type="pres">
      <dgm:prSet presAssocID="{12F3CA87-A02F-4AA7-8F90-6C56C87ED01B}" presName="background" presStyleLbl="node0" presStyleIdx="1" presStyleCnt="3"/>
      <dgm:spPr/>
    </dgm:pt>
    <dgm:pt modelId="{5FA08B48-6688-410F-B7F9-89DA82A9E651}" type="pres">
      <dgm:prSet presAssocID="{12F3CA87-A02F-4AA7-8F90-6C56C87ED01B}" presName="text" presStyleLbl="fgAcc0" presStyleIdx="1" presStyleCnt="3">
        <dgm:presLayoutVars>
          <dgm:chPref val="3"/>
        </dgm:presLayoutVars>
      </dgm:prSet>
      <dgm:spPr/>
    </dgm:pt>
    <dgm:pt modelId="{250A6963-2680-42A1-ACCF-68690B443A12}" type="pres">
      <dgm:prSet presAssocID="{12F3CA87-A02F-4AA7-8F90-6C56C87ED01B}" presName="hierChild2" presStyleCnt="0"/>
      <dgm:spPr/>
    </dgm:pt>
    <dgm:pt modelId="{2E3A303F-E5CF-43C4-8381-12E24EF1BBD6}" type="pres">
      <dgm:prSet presAssocID="{0EB12257-5544-43E4-8668-ACD927688E57}" presName="hierRoot1" presStyleCnt="0"/>
      <dgm:spPr/>
    </dgm:pt>
    <dgm:pt modelId="{D7A3F8C2-586D-4C3E-9E85-18B765B1534C}" type="pres">
      <dgm:prSet presAssocID="{0EB12257-5544-43E4-8668-ACD927688E57}" presName="composite" presStyleCnt="0"/>
      <dgm:spPr/>
    </dgm:pt>
    <dgm:pt modelId="{8A72262D-3E47-43D1-8438-AF13DF0EE311}" type="pres">
      <dgm:prSet presAssocID="{0EB12257-5544-43E4-8668-ACD927688E57}" presName="background" presStyleLbl="node0" presStyleIdx="2" presStyleCnt="3"/>
      <dgm:spPr/>
    </dgm:pt>
    <dgm:pt modelId="{94D8A8ED-3E4B-4DD4-855B-386D29E4FF24}" type="pres">
      <dgm:prSet presAssocID="{0EB12257-5544-43E4-8668-ACD927688E57}" presName="text" presStyleLbl="fgAcc0" presStyleIdx="2" presStyleCnt="3">
        <dgm:presLayoutVars>
          <dgm:chPref val="3"/>
        </dgm:presLayoutVars>
      </dgm:prSet>
      <dgm:spPr/>
    </dgm:pt>
    <dgm:pt modelId="{BCB638A9-4F9A-4706-BABE-2C251DE5BC2B}" type="pres">
      <dgm:prSet presAssocID="{0EB12257-5544-43E4-8668-ACD927688E57}" presName="hierChild2" presStyleCnt="0"/>
      <dgm:spPr/>
    </dgm:pt>
  </dgm:ptLst>
  <dgm:cxnLst>
    <dgm:cxn modelId="{81AB3116-5B49-4311-A206-E4E2F80112CE}" type="presOf" srcId="{27F2D31A-FD99-4470-A2A2-6EEE6043DDD5}" destId="{4EDA9ECB-5BE4-4B04-ADF2-ED8604E4ABBC}" srcOrd="0" destOrd="0" presId="urn:microsoft.com/office/officeart/2005/8/layout/hierarchy1"/>
    <dgm:cxn modelId="{8D150622-18F9-41DE-9F68-E28A8949BCA3}" type="presOf" srcId="{0EB12257-5544-43E4-8668-ACD927688E57}" destId="{94D8A8ED-3E4B-4DD4-855B-386D29E4FF24}" srcOrd="0" destOrd="0" presId="urn:microsoft.com/office/officeart/2005/8/layout/hierarchy1"/>
    <dgm:cxn modelId="{AD46916C-1A7D-49EB-9800-28A797909644}" srcId="{27F2D31A-FD99-4470-A2A2-6EEE6043DDD5}" destId="{12F3CA87-A02F-4AA7-8F90-6C56C87ED01B}" srcOrd="1" destOrd="0" parTransId="{D527202A-75F3-4656-8422-6C81B9957538}" sibTransId="{08930504-103C-4630-BCFF-068C2033EACA}"/>
    <dgm:cxn modelId="{82675DA0-4E57-4083-83E1-4811E68D8B2D}" type="presOf" srcId="{12F3CA87-A02F-4AA7-8F90-6C56C87ED01B}" destId="{5FA08B48-6688-410F-B7F9-89DA82A9E651}" srcOrd="0" destOrd="0" presId="urn:microsoft.com/office/officeart/2005/8/layout/hierarchy1"/>
    <dgm:cxn modelId="{BAB0AEA0-FF20-40A2-9BEF-E1D517A9860C}" srcId="{27F2D31A-FD99-4470-A2A2-6EEE6043DDD5}" destId="{0EB12257-5544-43E4-8668-ACD927688E57}" srcOrd="2" destOrd="0" parTransId="{09566832-6DC8-4A43-AB3E-270C74A5D831}" sibTransId="{3EF0B658-18DD-4FFF-9A3B-96CD845DC11F}"/>
    <dgm:cxn modelId="{D19681C3-24E6-4E99-AAB0-CAD032F78391}" type="presOf" srcId="{0400606C-3D4D-48C9-90CC-B071FCBE940A}" destId="{3BB2F065-B28B-4D0F-B5E8-692F2A1D385E}" srcOrd="0" destOrd="0" presId="urn:microsoft.com/office/officeart/2005/8/layout/hierarchy1"/>
    <dgm:cxn modelId="{0CDB3DCE-06BD-48E7-8326-A84CA8A7A4F3}" srcId="{27F2D31A-FD99-4470-A2A2-6EEE6043DDD5}" destId="{0400606C-3D4D-48C9-90CC-B071FCBE940A}" srcOrd="0" destOrd="0" parTransId="{724C8572-8D5C-4D82-B582-20F1A1FF0E47}" sibTransId="{8E0A57CB-53BD-4370-95F5-C70DFB1ABEE6}"/>
    <dgm:cxn modelId="{7D1738EB-A528-40E9-8A02-26F2DADF558B}" type="presParOf" srcId="{4EDA9ECB-5BE4-4B04-ADF2-ED8604E4ABBC}" destId="{CD4917D6-6A3A-43E7-817F-EBEF4F824112}" srcOrd="0" destOrd="0" presId="urn:microsoft.com/office/officeart/2005/8/layout/hierarchy1"/>
    <dgm:cxn modelId="{FC7B1E84-CE47-452B-AF7B-9C61C8D2AB52}" type="presParOf" srcId="{CD4917D6-6A3A-43E7-817F-EBEF4F824112}" destId="{F89ED39C-CC91-4E1D-84F8-C4979316670F}" srcOrd="0" destOrd="0" presId="urn:microsoft.com/office/officeart/2005/8/layout/hierarchy1"/>
    <dgm:cxn modelId="{0E2956DA-D5AD-474F-B202-F7644D8E4CB6}" type="presParOf" srcId="{F89ED39C-CC91-4E1D-84F8-C4979316670F}" destId="{3B7B2BDE-D6FD-4E9B-9B69-BB786A779BED}" srcOrd="0" destOrd="0" presId="urn:microsoft.com/office/officeart/2005/8/layout/hierarchy1"/>
    <dgm:cxn modelId="{5EC0988B-43B0-47E0-9993-E186F4CAADE5}" type="presParOf" srcId="{F89ED39C-CC91-4E1D-84F8-C4979316670F}" destId="{3BB2F065-B28B-4D0F-B5E8-692F2A1D385E}" srcOrd="1" destOrd="0" presId="urn:microsoft.com/office/officeart/2005/8/layout/hierarchy1"/>
    <dgm:cxn modelId="{3D481E27-E22E-4A48-A8B3-86F9920CD1FE}" type="presParOf" srcId="{CD4917D6-6A3A-43E7-817F-EBEF4F824112}" destId="{ABC26D38-EA22-40BE-BD73-065FAACAB84A}" srcOrd="1" destOrd="0" presId="urn:microsoft.com/office/officeart/2005/8/layout/hierarchy1"/>
    <dgm:cxn modelId="{AB8E4A23-56AC-4DF8-9767-C28E6432D61B}" type="presParOf" srcId="{4EDA9ECB-5BE4-4B04-ADF2-ED8604E4ABBC}" destId="{8969199D-0AF3-4DE5-8F1E-C59218DD9E6E}" srcOrd="1" destOrd="0" presId="urn:microsoft.com/office/officeart/2005/8/layout/hierarchy1"/>
    <dgm:cxn modelId="{2D1027D6-938E-4B80-9723-9589BB3C9B15}" type="presParOf" srcId="{8969199D-0AF3-4DE5-8F1E-C59218DD9E6E}" destId="{5733F6E3-64B6-4944-B8A5-0761646DAB26}" srcOrd="0" destOrd="0" presId="urn:microsoft.com/office/officeart/2005/8/layout/hierarchy1"/>
    <dgm:cxn modelId="{F4B1DBC7-4879-40BF-877F-8A501BB43188}" type="presParOf" srcId="{5733F6E3-64B6-4944-B8A5-0761646DAB26}" destId="{22E31B0C-BE6C-4B58-B13E-C0C31EB8F467}" srcOrd="0" destOrd="0" presId="urn:microsoft.com/office/officeart/2005/8/layout/hierarchy1"/>
    <dgm:cxn modelId="{7BBBF308-6162-45EC-9A0C-375FF7D8C959}" type="presParOf" srcId="{5733F6E3-64B6-4944-B8A5-0761646DAB26}" destId="{5FA08B48-6688-410F-B7F9-89DA82A9E651}" srcOrd="1" destOrd="0" presId="urn:microsoft.com/office/officeart/2005/8/layout/hierarchy1"/>
    <dgm:cxn modelId="{917069C9-E26D-4681-9476-21C1712756A0}" type="presParOf" srcId="{8969199D-0AF3-4DE5-8F1E-C59218DD9E6E}" destId="{250A6963-2680-42A1-ACCF-68690B443A12}" srcOrd="1" destOrd="0" presId="urn:microsoft.com/office/officeart/2005/8/layout/hierarchy1"/>
    <dgm:cxn modelId="{3921154E-B5A5-4201-B413-4E4EF9EE9C93}" type="presParOf" srcId="{4EDA9ECB-5BE4-4B04-ADF2-ED8604E4ABBC}" destId="{2E3A303F-E5CF-43C4-8381-12E24EF1BBD6}" srcOrd="2" destOrd="0" presId="urn:microsoft.com/office/officeart/2005/8/layout/hierarchy1"/>
    <dgm:cxn modelId="{252E7324-6759-4990-86AD-6CD2FEBF3493}" type="presParOf" srcId="{2E3A303F-E5CF-43C4-8381-12E24EF1BBD6}" destId="{D7A3F8C2-586D-4C3E-9E85-18B765B1534C}" srcOrd="0" destOrd="0" presId="urn:microsoft.com/office/officeart/2005/8/layout/hierarchy1"/>
    <dgm:cxn modelId="{6A24B3B2-C7B9-4762-A12F-5A8F146E6A50}" type="presParOf" srcId="{D7A3F8C2-586D-4C3E-9E85-18B765B1534C}" destId="{8A72262D-3E47-43D1-8438-AF13DF0EE311}" srcOrd="0" destOrd="0" presId="urn:microsoft.com/office/officeart/2005/8/layout/hierarchy1"/>
    <dgm:cxn modelId="{97BB312E-FC0B-4559-8255-65B582810C59}" type="presParOf" srcId="{D7A3F8C2-586D-4C3E-9E85-18B765B1534C}" destId="{94D8A8ED-3E4B-4DD4-855B-386D29E4FF24}" srcOrd="1" destOrd="0" presId="urn:microsoft.com/office/officeart/2005/8/layout/hierarchy1"/>
    <dgm:cxn modelId="{3DF51AFB-2C87-453C-834E-A242FE1FF099}" type="presParOf" srcId="{2E3A303F-E5CF-43C4-8381-12E24EF1BBD6}" destId="{BCB638A9-4F9A-4706-BABE-2C251DE5BC2B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805EB5F-DDC4-44D1-A63E-A5330C2718C3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2E47EA3B-30E5-4C82-A64C-9A0D99908A3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Determine if current weekend ticket price reflects true market value</a:t>
          </a:r>
        </a:p>
      </dgm:t>
    </dgm:pt>
    <dgm:pt modelId="{0643DB90-174B-4AA9-ACB7-6C05AA9560D3}" type="parTrans" cxnId="{F2BBCC61-A95C-45AF-9FF4-3A17097E1BD2}">
      <dgm:prSet/>
      <dgm:spPr/>
      <dgm:t>
        <a:bodyPr/>
        <a:lstStyle/>
        <a:p>
          <a:endParaRPr lang="en-US"/>
        </a:p>
      </dgm:t>
    </dgm:pt>
    <dgm:pt modelId="{9993C18D-D801-41DE-8BBC-30543716EC3D}" type="sibTrans" cxnId="{F2BBCC61-A95C-45AF-9FF4-3A17097E1BD2}">
      <dgm:prSet/>
      <dgm:spPr/>
      <dgm:t>
        <a:bodyPr/>
        <a:lstStyle/>
        <a:p>
          <a:endParaRPr lang="en-US"/>
        </a:p>
      </dgm:t>
    </dgm:pt>
    <dgm:pt modelId="{7C51DE0F-E0AA-4A66-B2AD-E63D31DED7C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Set a competitive, data-driven price for next season</a:t>
          </a:r>
        </a:p>
      </dgm:t>
    </dgm:pt>
    <dgm:pt modelId="{B9CAB52A-D5A1-4C2D-BDA8-6A8BD2186E93}" type="parTrans" cxnId="{FE468ECB-0F97-4CB1-AB75-4F619CB3D082}">
      <dgm:prSet/>
      <dgm:spPr/>
      <dgm:t>
        <a:bodyPr/>
        <a:lstStyle/>
        <a:p>
          <a:endParaRPr lang="en-US"/>
        </a:p>
      </dgm:t>
    </dgm:pt>
    <dgm:pt modelId="{6B120995-4C39-4561-8FAA-3E8D20C06AA2}" type="sibTrans" cxnId="{FE468ECB-0F97-4CB1-AB75-4F619CB3D082}">
      <dgm:prSet/>
      <dgm:spPr/>
      <dgm:t>
        <a:bodyPr/>
        <a:lstStyle/>
        <a:p>
          <a:endParaRPr lang="en-US"/>
        </a:p>
      </dgm:t>
    </dgm:pt>
    <dgm:pt modelId="{A6C6DA9D-C42C-4303-BCD3-08D65FB43E7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Identify opportunities for revenue growth and operational investment</a:t>
          </a:r>
        </a:p>
      </dgm:t>
    </dgm:pt>
    <dgm:pt modelId="{44113F13-6B4F-46B9-A37C-C2440429A0D1}" type="parTrans" cxnId="{3D5ADCC7-E28B-4463-B8B5-3C92FD50507F}">
      <dgm:prSet/>
      <dgm:spPr/>
      <dgm:t>
        <a:bodyPr/>
        <a:lstStyle/>
        <a:p>
          <a:endParaRPr lang="en-US"/>
        </a:p>
      </dgm:t>
    </dgm:pt>
    <dgm:pt modelId="{CEAEFF22-68FA-4886-90AB-1BE16C0D7865}" type="sibTrans" cxnId="{3D5ADCC7-E28B-4463-B8B5-3C92FD50507F}">
      <dgm:prSet/>
      <dgm:spPr/>
      <dgm:t>
        <a:bodyPr/>
        <a:lstStyle/>
        <a:p>
          <a:endParaRPr lang="en-US"/>
        </a:p>
      </dgm:t>
    </dgm:pt>
    <dgm:pt modelId="{5702D285-8208-4D44-AA4A-4E61D208C76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Revenue target: Increase by 10% next fiscal year</a:t>
          </a:r>
          <a:endParaRPr lang="en-US" dirty="0"/>
        </a:p>
      </dgm:t>
    </dgm:pt>
    <dgm:pt modelId="{2B6E1633-2734-41E5-91AC-6D1D79BA7130}" type="parTrans" cxnId="{6E905662-0CA4-4CFF-A8C0-9E9C09F1A822}">
      <dgm:prSet/>
      <dgm:spPr/>
      <dgm:t>
        <a:bodyPr/>
        <a:lstStyle/>
        <a:p>
          <a:endParaRPr lang="en-US"/>
        </a:p>
      </dgm:t>
    </dgm:pt>
    <dgm:pt modelId="{6F87C7DF-70DD-49E0-826E-EBF65DB46807}" type="sibTrans" cxnId="{6E905662-0CA4-4CFF-A8C0-9E9C09F1A822}">
      <dgm:prSet/>
      <dgm:spPr/>
      <dgm:t>
        <a:bodyPr/>
        <a:lstStyle/>
        <a:p>
          <a:endParaRPr lang="en-US"/>
        </a:p>
      </dgm:t>
    </dgm:pt>
    <dgm:pt modelId="{42A0EFA0-E422-4AA3-8FF4-6C15588EBA62}" type="pres">
      <dgm:prSet presAssocID="{7805EB5F-DDC4-44D1-A63E-A5330C2718C3}" presName="root" presStyleCnt="0">
        <dgm:presLayoutVars>
          <dgm:dir/>
          <dgm:resizeHandles val="exact"/>
        </dgm:presLayoutVars>
      </dgm:prSet>
      <dgm:spPr/>
    </dgm:pt>
    <dgm:pt modelId="{9981747C-5D95-4DBB-8DAB-5F3966AC9460}" type="pres">
      <dgm:prSet presAssocID="{2E47EA3B-30E5-4C82-A64C-9A0D99908A3D}" presName="compNode" presStyleCnt="0"/>
      <dgm:spPr/>
    </dgm:pt>
    <dgm:pt modelId="{2ADC628A-4BAE-40F3-9414-5F93295B53B3}" type="pres">
      <dgm:prSet presAssocID="{2E47EA3B-30E5-4C82-A64C-9A0D99908A3D}" presName="bgRect" presStyleLbl="bgShp" presStyleIdx="0" presStyleCnt="4"/>
      <dgm:spPr/>
    </dgm:pt>
    <dgm:pt modelId="{427FC127-BB39-46C3-98C4-0437A4FA4EAB}" type="pres">
      <dgm:prSet presAssocID="{2E47EA3B-30E5-4C82-A64C-9A0D99908A3D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y outline"/>
        </a:ext>
      </dgm:extLst>
    </dgm:pt>
    <dgm:pt modelId="{034B23EC-9CCE-467C-A092-EDF5877E4246}" type="pres">
      <dgm:prSet presAssocID="{2E47EA3B-30E5-4C82-A64C-9A0D99908A3D}" presName="spaceRect" presStyleCnt="0"/>
      <dgm:spPr/>
    </dgm:pt>
    <dgm:pt modelId="{F1BFC47E-F7CA-42A7-86A9-C3429D718EAA}" type="pres">
      <dgm:prSet presAssocID="{2E47EA3B-30E5-4C82-A64C-9A0D99908A3D}" presName="parTx" presStyleLbl="revTx" presStyleIdx="0" presStyleCnt="4">
        <dgm:presLayoutVars>
          <dgm:chMax val="0"/>
          <dgm:chPref val="0"/>
        </dgm:presLayoutVars>
      </dgm:prSet>
      <dgm:spPr/>
    </dgm:pt>
    <dgm:pt modelId="{8587E107-997D-4F49-9F74-A6DDE44C16E4}" type="pres">
      <dgm:prSet presAssocID="{9993C18D-D801-41DE-8BBC-30543716EC3D}" presName="sibTrans" presStyleCnt="0"/>
      <dgm:spPr/>
    </dgm:pt>
    <dgm:pt modelId="{9D28BF4F-C03D-4B8D-9A93-B55D5B7A7372}" type="pres">
      <dgm:prSet presAssocID="{7C51DE0F-E0AA-4A66-B2AD-E63D31DED7CC}" presName="compNode" presStyleCnt="0"/>
      <dgm:spPr/>
    </dgm:pt>
    <dgm:pt modelId="{C46F2277-1122-43F4-800D-F6D84BF80A70}" type="pres">
      <dgm:prSet presAssocID="{7C51DE0F-E0AA-4A66-B2AD-E63D31DED7CC}" presName="bgRect" presStyleLbl="bgShp" presStyleIdx="1" presStyleCnt="4"/>
      <dgm:spPr/>
    </dgm:pt>
    <dgm:pt modelId="{006AF588-4B6C-4C4F-8D1B-4E268AEB68E9}" type="pres">
      <dgm:prSet presAssocID="{7C51DE0F-E0AA-4A66-B2AD-E63D31DED7CC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r with solid fill"/>
        </a:ext>
      </dgm:extLst>
    </dgm:pt>
    <dgm:pt modelId="{A780A5D1-6DFA-457B-8BC1-122E11696841}" type="pres">
      <dgm:prSet presAssocID="{7C51DE0F-E0AA-4A66-B2AD-E63D31DED7CC}" presName="spaceRect" presStyleCnt="0"/>
      <dgm:spPr/>
    </dgm:pt>
    <dgm:pt modelId="{E1AB0439-A275-4118-837E-59891D8C76CA}" type="pres">
      <dgm:prSet presAssocID="{7C51DE0F-E0AA-4A66-B2AD-E63D31DED7CC}" presName="parTx" presStyleLbl="revTx" presStyleIdx="1" presStyleCnt="4">
        <dgm:presLayoutVars>
          <dgm:chMax val="0"/>
          <dgm:chPref val="0"/>
        </dgm:presLayoutVars>
      </dgm:prSet>
      <dgm:spPr/>
    </dgm:pt>
    <dgm:pt modelId="{87794CE3-ECD9-48E0-A793-07515CD29685}" type="pres">
      <dgm:prSet presAssocID="{6B120995-4C39-4561-8FAA-3E8D20C06AA2}" presName="sibTrans" presStyleCnt="0"/>
      <dgm:spPr/>
    </dgm:pt>
    <dgm:pt modelId="{65D6A42B-2825-43AD-96D4-B4DC54008D45}" type="pres">
      <dgm:prSet presAssocID="{A6C6DA9D-C42C-4303-BCD3-08D65FB43E79}" presName="compNode" presStyleCnt="0"/>
      <dgm:spPr/>
    </dgm:pt>
    <dgm:pt modelId="{4B11C86C-E67F-40C5-A9B6-E66C584FE9AB}" type="pres">
      <dgm:prSet presAssocID="{A6C6DA9D-C42C-4303-BCD3-08D65FB43E79}" presName="bgRect" presStyleLbl="bgShp" presStyleIdx="2" presStyleCnt="4" custLinFactNeighborX="-7273" custLinFactNeighborY="1201"/>
      <dgm:spPr/>
    </dgm:pt>
    <dgm:pt modelId="{9D1D538F-BDF1-4751-A7D4-E8C0AF2F267B}" type="pres">
      <dgm:prSet presAssocID="{A6C6DA9D-C42C-4303-BCD3-08D65FB43E79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nk with solid fill"/>
        </a:ext>
      </dgm:extLst>
    </dgm:pt>
    <dgm:pt modelId="{31E266AA-9BF5-404C-975F-A48D556D4BDC}" type="pres">
      <dgm:prSet presAssocID="{A6C6DA9D-C42C-4303-BCD3-08D65FB43E79}" presName="spaceRect" presStyleCnt="0"/>
      <dgm:spPr/>
    </dgm:pt>
    <dgm:pt modelId="{B70E603D-045E-4E48-9DE1-104A6905D2CC}" type="pres">
      <dgm:prSet presAssocID="{A6C6DA9D-C42C-4303-BCD3-08D65FB43E79}" presName="parTx" presStyleLbl="revTx" presStyleIdx="2" presStyleCnt="4">
        <dgm:presLayoutVars>
          <dgm:chMax val="0"/>
          <dgm:chPref val="0"/>
        </dgm:presLayoutVars>
      </dgm:prSet>
      <dgm:spPr/>
    </dgm:pt>
    <dgm:pt modelId="{FDE614F4-E205-4EDB-BA8F-6483C74E772A}" type="pres">
      <dgm:prSet presAssocID="{CEAEFF22-68FA-4886-90AB-1BE16C0D7865}" presName="sibTrans" presStyleCnt="0"/>
      <dgm:spPr/>
    </dgm:pt>
    <dgm:pt modelId="{77A9B540-2C5E-4691-8FC6-0552C80AFFEB}" type="pres">
      <dgm:prSet presAssocID="{5702D285-8208-4D44-AA4A-4E61D208C760}" presName="compNode" presStyleCnt="0"/>
      <dgm:spPr/>
    </dgm:pt>
    <dgm:pt modelId="{67C8B101-8123-4B42-8306-72B57734D354}" type="pres">
      <dgm:prSet presAssocID="{5702D285-8208-4D44-AA4A-4E61D208C760}" presName="bgRect" presStyleLbl="bgShp" presStyleIdx="3" presStyleCnt="4"/>
      <dgm:spPr/>
    </dgm:pt>
    <dgm:pt modelId="{EC554686-795C-4208-98FD-0A0BC4B10E9F}" type="pres">
      <dgm:prSet presAssocID="{5702D285-8208-4D44-AA4A-4E61D208C760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pward trend outline"/>
        </a:ext>
      </dgm:extLst>
    </dgm:pt>
    <dgm:pt modelId="{A4FD10D5-6910-4F4F-BBF9-1FDDC0A1BAAF}" type="pres">
      <dgm:prSet presAssocID="{5702D285-8208-4D44-AA4A-4E61D208C760}" presName="spaceRect" presStyleCnt="0"/>
      <dgm:spPr/>
    </dgm:pt>
    <dgm:pt modelId="{C6B22169-97B1-4A8F-9DE4-2CEB1C81A8CE}" type="pres">
      <dgm:prSet presAssocID="{5702D285-8208-4D44-AA4A-4E61D208C760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38887831-73CE-4A80-A88B-ABEA0566D4B4}" type="presOf" srcId="{7C51DE0F-E0AA-4A66-B2AD-E63D31DED7CC}" destId="{E1AB0439-A275-4118-837E-59891D8C76CA}" srcOrd="0" destOrd="0" presId="urn:microsoft.com/office/officeart/2018/2/layout/IconVerticalSolidList"/>
    <dgm:cxn modelId="{F2BBCC61-A95C-45AF-9FF4-3A17097E1BD2}" srcId="{7805EB5F-DDC4-44D1-A63E-A5330C2718C3}" destId="{2E47EA3B-30E5-4C82-A64C-9A0D99908A3D}" srcOrd="0" destOrd="0" parTransId="{0643DB90-174B-4AA9-ACB7-6C05AA9560D3}" sibTransId="{9993C18D-D801-41DE-8BBC-30543716EC3D}"/>
    <dgm:cxn modelId="{6E905662-0CA4-4CFF-A8C0-9E9C09F1A822}" srcId="{7805EB5F-DDC4-44D1-A63E-A5330C2718C3}" destId="{5702D285-8208-4D44-AA4A-4E61D208C760}" srcOrd="3" destOrd="0" parTransId="{2B6E1633-2734-41E5-91AC-6D1D79BA7130}" sibTransId="{6F87C7DF-70DD-49E0-826E-EBF65DB46807}"/>
    <dgm:cxn modelId="{C39D2372-C391-49D7-BA68-9D1F418E7805}" type="presOf" srcId="{7805EB5F-DDC4-44D1-A63E-A5330C2718C3}" destId="{42A0EFA0-E422-4AA3-8FF4-6C15588EBA62}" srcOrd="0" destOrd="0" presId="urn:microsoft.com/office/officeart/2018/2/layout/IconVerticalSolidList"/>
    <dgm:cxn modelId="{3D5ADCC7-E28B-4463-B8B5-3C92FD50507F}" srcId="{7805EB5F-DDC4-44D1-A63E-A5330C2718C3}" destId="{A6C6DA9D-C42C-4303-BCD3-08D65FB43E79}" srcOrd="2" destOrd="0" parTransId="{44113F13-6B4F-46B9-A37C-C2440429A0D1}" sibTransId="{CEAEFF22-68FA-4886-90AB-1BE16C0D7865}"/>
    <dgm:cxn modelId="{FE468ECB-0F97-4CB1-AB75-4F619CB3D082}" srcId="{7805EB5F-DDC4-44D1-A63E-A5330C2718C3}" destId="{7C51DE0F-E0AA-4A66-B2AD-E63D31DED7CC}" srcOrd="1" destOrd="0" parTransId="{B9CAB52A-D5A1-4C2D-BDA8-6A8BD2186E93}" sibTransId="{6B120995-4C39-4561-8FAA-3E8D20C06AA2}"/>
    <dgm:cxn modelId="{FBBD52CC-C451-402E-A8F3-94046CFC59FB}" type="presOf" srcId="{5702D285-8208-4D44-AA4A-4E61D208C760}" destId="{C6B22169-97B1-4A8F-9DE4-2CEB1C81A8CE}" srcOrd="0" destOrd="0" presId="urn:microsoft.com/office/officeart/2018/2/layout/IconVerticalSolidList"/>
    <dgm:cxn modelId="{125093DB-36D4-4476-B0EB-79DC87169739}" type="presOf" srcId="{2E47EA3B-30E5-4C82-A64C-9A0D99908A3D}" destId="{F1BFC47E-F7CA-42A7-86A9-C3429D718EAA}" srcOrd="0" destOrd="0" presId="urn:microsoft.com/office/officeart/2018/2/layout/IconVerticalSolidList"/>
    <dgm:cxn modelId="{996811E1-306A-4E08-9772-2CF46C7A965F}" type="presOf" srcId="{A6C6DA9D-C42C-4303-BCD3-08D65FB43E79}" destId="{B70E603D-045E-4E48-9DE1-104A6905D2CC}" srcOrd="0" destOrd="0" presId="urn:microsoft.com/office/officeart/2018/2/layout/IconVerticalSolidList"/>
    <dgm:cxn modelId="{FCA43D39-964A-4081-A2A8-FFCF562778B4}" type="presParOf" srcId="{42A0EFA0-E422-4AA3-8FF4-6C15588EBA62}" destId="{9981747C-5D95-4DBB-8DAB-5F3966AC9460}" srcOrd="0" destOrd="0" presId="urn:microsoft.com/office/officeart/2018/2/layout/IconVerticalSolidList"/>
    <dgm:cxn modelId="{70C4023B-6617-4A6C-B128-60FFDC1836FC}" type="presParOf" srcId="{9981747C-5D95-4DBB-8DAB-5F3966AC9460}" destId="{2ADC628A-4BAE-40F3-9414-5F93295B53B3}" srcOrd="0" destOrd="0" presId="urn:microsoft.com/office/officeart/2018/2/layout/IconVerticalSolidList"/>
    <dgm:cxn modelId="{B0581587-558B-442A-8049-4797AB1BA98B}" type="presParOf" srcId="{9981747C-5D95-4DBB-8DAB-5F3966AC9460}" destId="{427FC127-BB39-46C3-98C4-0437A4FA4EAB}" srcOrd="1" destOrd="0" presId="urn:microsoft.com/office/officeart/2018/2/layout/IconVerticalSolidList"/>
    <dgm:cxn modelId="{412A1A19-2E14-4EFD-9717-2134F8DC79EB}" type="presParOf" srcId="{9981747C-5D95-4DBB-8DAB-5F3966AC9460}" destId="{034B23EC-9CCE-467C-A092-EDF5877E4246}" srcOrd="2" destOrd="0" presId="urn:microsoft.com/office/officeart/2018/2/layout/IconVerticalSolidList"/>
    <dgm:cxn modelId="{DE5C5922-F169-4E48-B7F1-0645D455C9AB}" type="presParOf" srcId="{9981747C-5D95-4DBB-8DAB-5F3966AC9460}" destId="{F1BFC47E-F7CA-42A7-86A9-C3429D718EAA}" srcOrd="3" destOrd="0" presId="urn:microsoft.com/office/officeart/2018/2/layout/IconVerticalSolidList"/>
    <dgm:cxn modelId="{D6415E68-EA46-4905-817E-0BAAD4CDAA6B}" type="presParOf" srcId="{42A0EFA0-E422-4AA3-8FF4-6C15588EBA62}" destId="{8587E107-997D-4F49-9F74-A6DDE44C16E4}" srcOrd="1" destOrd="0" presId="urn:microsoft.com/office/officeart/2018/2/layout/IconVerticalSolidList"/>
    <dgm:cxn modelId="{607F0B89-3262-4A26-BDBA-B29A40AC73B5}" type="presParOf" srcId="{42A0EFA0-E422-4AA3-8FF4-6C15588EBA62}" destId="{9D28BF4F-C03D-4B8D-9A93-B55D5B7A7372}" srcOrd="2" destOrd="0" presId="urn:microsoft.com/office/officeart/2018/2/layout/IconVerticalSolidList"/>
    <dgm:cxn modelId="{0AB09B84-B407-49A6-876A-DA23EE40CBDC}" type="presParOf" srcId="{9D28BF4F-C03D-4B8D-9A93-B55D5B7A7372}" destId="{C46F2277-1122-43F4-800D-F6D84BF80A70}" srcOrd="0" destOrd="0" presId="urn:microsoft.com/office/officeart/2018/2/layout/IconVerticalSolidList"/>
    <dgm:cxn modelId="{E175ED19-3438-45F9-A867-05A68114BC26}" type="presParOf" srcId="{9D28BF4F-C03D-4B8D-9A93-B55D5B7A7372}" destId="{006AF588-4B6C-4C4F-8D1B-4E268AEB68E9}" srcOrd="1" destOrd="0" presId="urn:microsoft.com/office/officeart/2018/2/layout/IconVerticalSolidList"/>
    <dgm:cxn modelId="{DDA2E4DD-390F-43E7-9835-D561A56E4C5A}" type="presParOf" srcId="{9D28BF4F-C03D-4B8D-9A93-B55D5B7A7372}" destId="{A780A5D1-6DFA-457B-8BC1-122E11696841}" srcOrd="2" destOrd="0" presId="urn:microsoft.com/office/officeart/2018/2/layout/IconVerticalSolidList"/>
    <dgm:cxn modelId="{8EEE623D-00E5-4BC3-84AC-0F706F89C7E9}" type="presParOf" srcId="{9D28BF4F-C03D-4B8D-9A93-B55D5B7A7372}" destId="{E1AB0439-A275-4118-837E-59891D8C76CA}" srcOrd="3" destOrd="0" presId="urn:microsoft.com/office/officeart/2018/2/layout/IconVerticalSolidList"/>
    <dgm:cxn modelId="{F491298E-0332-4031-B557-589D2E4AFCC1}" type="presParOf" srcId="{42A0EFA0-E422-4AA3-8FF4-6C15588EBA62}" destId="{87794CE3-ECD9-48E0-A793-07515CD29685}" srcOrd="3" destOrd="0" presId="urn:microsoft.com/office/officeart/2018/2/layout/IconVerticalSolidList"/>
    <dgm:cxn modelId="{702A0BA7-CCC9-4EEC-9822-66858E31D979}" type="presParOf" srcId="{42A0EFA0-E422-4AA3-8FF4-6C15588EBA62}" destId="{65D6A42B-2825-43AD-96D4-B4DC54008D45}" srcOrd="4" destOrd="0" presId="urn:microsoft.com/office/officeart/2018/2/layout/IconVerticalSolidList"/>
    <dgm:cxn modelId="{04E1C4AA-8E99-4EFF-B59E-D42D4EAA9B0B}" type="presParOf" srcId="{65D6A42B-2825-43AD-96D4-B4DC54008D45}" destId="{4B11C86C-E67F-40C5-A9B6-E66C584FE9AB}" srcOrd="0" destOrd="0" presId="urn:microsoft.com/office/officeart/2018/2/layout/IconVerticalSolidList"/>
    <dgm:cxn modelId="{A3C42933-CC34-4470-974B-6B38A71FA253}" type="presParOf" srcId="{65D6A42B-2825-43AD-96D4-B4DC54008D45}" destId="{9D1D538F-BDF1-4751-A7D4-E8C0AF2F267B}" srcOrd="1" destOrd="0" presId="urn:microsoft.com/office/officeart/2018/2/layout/IconVerticalSolidList"/>
    <dgm:cxn modelId="{D1815ED2-3748-481A-BE3C-F7670EF97162}" type="presParOf" srcId="{65D6A42B-2825-43AD-96D4-B4DC54008D45}" destId="{31E266AA-9BF5-404C-975F-A48D556D4BDC}" srcOrd="2" destOrd="0" presId="urn:microsoft.com/office/officeart/2018/2/layout/IconVerticalSolidList"/>
    <dgm:cxn modelId="{ECC0A238-3D04-438E-9796-A8F318B48B84}" type="presParOf" srcId="{65D6A42B-2825-43AD-96D4-B4DC54008D45}" destId="{B70E603D-045E-4E48-9DE1-104A6905D2CC}" srcOrd="3" destOrd="0" presId="urn:microsoft.com/office/officeart/2018/2/layout/IconVerticalSolidList"/>
    <dgm:cxn modelId="{ADCD3A1C-1A6C-4DE9-807E-5419C5D8F258}" type="presParOf" srcId="{42A0EFA0-E422-4AA3-8FF4-6C15588EBA62}" destId="{FDE614F4-E205-4EDB-BA8F-6483C74E772A}" srcOrd="5" destOrd="0" presId="urn:microsoft.com/office/officeart/2018/2/layout/IconVerticalSolidList"/>
    <dgm:cxn modelId="{8AD023A3-49E2-4D71-8C91-685724691AE0}" type="presParOf" srcId="{42A0EFA0-E422-4AA3-8FF4-6C15588EBA62}" destId="{77A9B540-2C5E-4691-8FC6-0552C80AFFEB}" srcOrd="6" destOrd="0" presId="urn:microsoft.com/office/officeart/2018/2/layout/IconVerticalSolidList"/>
    <dgm:cxn modelId="{A6A7E5BE-C6F7-4A76-B5F9-1F14FD9E1A10}" type="presParOf" srcId="{77A9B540-2C5E-4691-8FC6-0552C80AFFEB}" destId="{67C8B101-8123-4B42-8306-72B57734D354}" srcOrd="0" destOrd="0" presId="urn:microsoft.com/office/officeart/2018/2/layout/IconVerticalSolidList"/>
    <dgm:cxn modelId="{704B8B66-55A8-4136-AAEC-2724CCB3BC43}" type="presParOf" srcId="{77A9B540-2C5E-4691-8FC6-0552C80AFFEB}" destId="{EC554686-795C-4208-98FD-0A0BC4B10E9F}" srcOrd="1" destOrd="0" presId="urn:microsoft.com/office/officeart/2018/2/layout/IconVerticalSolidList"/>
    <dgm:cxn modelId="{DE050FE5-8CBD-4DA4-B35C-ECA8C030F2A2}" type="presParOf" srcId="{77A9B540-2C5E-4691-8FC6-0552C80AFFEB}" destId="{A4FD10D5-6910-4F4F-BBF9-1FDDC0A1BAAF}" srcOrd="2" destOrd="0" presId="urn:microsoft.com/office/officeart/2018/2/layout/IconVerticalSolidList"/>
    <dgm:cxn modelId="{6D394AAE-11DC-410F-BE35-C63FC36D6052}" type="presParOf" srcId="{77A9B540-2C5E-4691-8FC6-0552C80AFFEB}" destId="{C6B22169-97B1-4A8F-9DE4-2CEB1C81A8CE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B7B2BDE-D6FD-4E9B-9B69-BB786A779BED}">
      <dsp:nvSpPr>
        <dsp:cNvPr id="0" name=""/>
        <dsp:cNvSpPr/>
      </dsp:nvSpPr>
      <dsp:spPr>
        <a:xfrm>
          <a:off x="0" y="963874"/>
          <a:ext cx="2828924" cy="179636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B2F065-B28B-4D0F-B5E8-692F2A1D385E}">
      <dsp:nvSpPr>
        <dsp:cNvPr id="0" name=""/>
        <dsp:cNvSpPr/>
      </dsp:nvSpPr>
      <dsp:spPr>
        <a:xfrm>
          <a:off x="314325" y="1262483"/>
          <a:ext cx="2828924" cy="179636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Are we underpricing compared to other U.S. ski resorts? </a:t>
          </a:r>
        </a:p>
      </dsp:txBody>
      <dsp:txXfrm>
        <a:off x="366939" y="1315097"/>
        <a:ext cx="2723696" cy="1691139"/>
      </dsp:txXfrm>
    </dsp:sp>
    <dsp:sp modelId="{22E31B0C-BE6C-4B58-B13E-C0C31EB8F467}">
      <dsp:nvSpPr>
        <dsp:cNvPr id="0" name=""/>
        <dsp:cNvSpPr/>
      </dsp:nvSpPr>
      <dsp:spPr>
        <a:xfrm>
          <a:off x="3457574" y="963874"/>
          <a:ext cx="2828924" cy="179636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FA08B48-6688-410F-B7F9-89DA82A9E651}">
      <dsp:nvSpPr>
        <dsp:cNvPr id="0" name=""/>
        <dsp:cNvSpPr/>
      </dsp:nvSpPr>
      <dsp:spPr>
        <a:xfrm>
          <a:off x="3771899" y="1262483"/>
          <a:ext cx="2828924" cy="179636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What resort features most influence ticket prices? </a:t>
          </a:r>
          <a:endParaRPr lang="en-US" sz="2600" kern="1200" dirty="0"/>
        </a:p>
      </dsp:txBody>
      <dsp:txXfrm>
        <a:off x="3824513" y="1315097"/>
        <a:ext cx="2723696" cy="1691139"/>
      </dsp:txXfrm>
    </dsp:sp>
    <dsp:sp modelId="{8A72262D-3E47-43D1-8438-AF13DF0EE311}">
      <dsp:nvSpPr>
        <dsp:cNvPr id="0" name=""/>
        <dsp:cNvSpPr/>
      </dsp:nvSpPr>
      <dsp:spPr>
        <a:xfrm>
          <a:off x="6915149" y="963874"/>
          <a:ext cx="2828924" cy="179636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4D8A8ED-3E4B-4DD4-855B-386D29E4FF24}">
      <dsp:nvSpPr>
        <dsp:cNvPr id="0" name=""/>
        <dsp:cNvSpPr/>
      </dsp:nvSpPr>
      <dsp:spPr>
        <a:xfrm>
          <a:off x="7229475" y="1262483"/>
          <a:ext cx="2828924" cy="179636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Where should we invest to strengthen pricing power? </a:t>
          </a:r>
        </a:p>
      </dsp:txBody>
      <dsp:txXfrm>
        <a:off x="7282089" y="1315097"/>
        <a:ext cx="2723696" cy="169113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ADC628A-4BAE-40F3-9414-5F93295B53B3}">
      <dsp:nvSpPr>
        <dsp:cNvPr id="0" name=""/>
        <dsp:cNvSpPr/>
      </dsp:nvSpPr>
      <dsp:spPr>
        <a:xfrm>
          <a:off x="0" y="1669"/>
          <a:ext cx="10058399" cy="846186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27FC127-BB39-46C3-98C4-0437A4FA4EAB}">
      <dsp:nvSpPr>
        <dsp:cNvPr id="0" name=""/>
        <dsp:cNvSpPr/>
      </dsp:nvSpPr>
      <dsp:spPr>
        <a:xfrm>
          <a:off x="255971" y="192061"/>
          <a:ext cx="465402" cy="46540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1BFC47E-F7CA-42A7-86A9-C3429D718EAA}">
      <dsp:nvSpPr>
        <dsp:cNvPr id="0" name=""/>
        <dsp:cNvSpPr/>
      </dsp:nvSpPr>
      <dsp:spPr>
        <a:xfrm>
          <a:off x="977345" y="1669"/>
          <a:ext cx="9081054" cy="8461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9555" tIns="89555" rIns="89555" bIns="89555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Determine if current weekend ticket price reflects true market value</a:t>
          </a:r>
        </a:p>
      </dsp:txBody>
      <dsp:txXfrm>
        <a:off x="977345" y="1669"/>
        <a:ext cx="9081054" cy="846186"/>
      </dsp:txXfrm>
    </dsp:sp>
    <dsp:sp modelId="{C46F2277-1122-43F4-800D-F6D84BF80A70}">
      <dsp:nvSpPr>
        <dsp:cNvPr id="0" name=""/>
        <dsp:cNvSpPr/>
      </dsp:nvSpPr>
      <dsp:spPr>
        <a:xfrm>
          <a:off x="0" y="1059402"/>
          <a:ext cx="10058399" cy="846186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06AF588-4B6C-4C4F-8D1B-4E268AEB68E9}">
      <dsp:nvSpPr>
        <dsp:cNvPr id="0" name=""/>
        <dsp:cNvSpPr/>
      </dsp:nvSpPr>
      <dsp:spPr>
        <a:xfrm>
          <a:off x="255971" y="1249794"/>
          <a:ext cx="465402" cy="46540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1AB0439-A275-4118-837E-59891D8C76CA}">
      <dsp:nvSpPr>
        <dsp:cNvPr id="0" name=""/>
        <dsp:cNvSpPr/>
      </dsp:nvSpPr>
      <dsp:spPr>
        <a:xfrm>
          <a:off x="977345" y="1059402"/>
          <a:ext cx="9081054" cy="8461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9555" tIns="89555" rIns="89555" bIns="89555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Set a competitive, data-driven price for next season</a:t>
          </a:r>
        </a:p>
      </dsp:txBody>
      <dsp:txXfrm>
        <a:off x="977345" y="1059402"/>
        <a:ext cx="9081054" cy="846186"/>
      </dsp:txXfrm>
    </dsp:sp>
    <dsp:sp modelId="{4B11C86C-E67F-40C5-A9B6-E66C584FE9AB}">
      <dsp:nvSpPr>
        <dsp:cNvPr id="0" name=""/>
        <dsp:cNvSpPr/>
      </dsp:nvSpPr>
      <dsp:spPr>
        <a:xfrm>
          <a:off x="0" y="2127298"/>
          <a:ext cx="10058399" cy="846186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D1D538F-BDF1-4751-A7D4-E8C0AF2F267B}">
      <dsp:nvSpPr>
        <dsp:cNvPr id="0" name=""/>
        <dsp:cNvSpPr/>
      </dsp:nvSpPr>
      <dsp:spPr>
        <a:xfrm>
          <a:off x="255971" y="2307527"/>
          <a:ext cx="465402" cy="46540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70E603D-045E-4E48-9DE1-104A6905D2CC}">
      <dsp:nvSpPr>
        <dsp:cNvPr id="0" name=""/>
        <dsp:cNvSpPr/>
      </dsp:nvSpPr>
      <dsp:spPr>
        <a:xfrm>
          <a:off x="977345" y="2117135"/>
          <a:ext cx="9081054" cy="8461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9555" tIns="89555" rIns="89555" bIns="89555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Identify opportunities for revenue growth and operational investment</a:t>
          </a:r>
        </a:p>
      </dsp:txBody>
      <dsp:txXfrm>
        <a:off x="977345" y="2117135"/>
        <a:ext cx="9081054" cy="846186"/>
      </dsp:txXfrm>
    </dsp:sp>
    <dsp:sp modelId="{67C8B101-8123-4B42-8306-72B57734D354}">
      <dsp:nvSpPr>
        <dsp:cNvPr id="0" name=""/>
        <dsp:cNvSpPr/>
      </dsp:nvSpPr>
      <dsp:spPr>
        <a:xfrm>
          <a:off x="0" y="3174868"/>
          <a:ext cx="10058399" cy="846186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C554686-795C-4208-98FD-0A0BC4B10E9F}">
      <dsp:nvSpPr>
        <dsp:cNvPr id="0" name=""/>
        <dsp:cNvSpPr/>
      </dsp:nvSpPr>
      <dsp:spPr>
        <a:xfrm>
          <a:off x="255971" y="3365260"/>
          <a:ext cx="465402" cy="46540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B22169-97B1-4A8F-9DE4-2CEB1C81A8CE}">
      <dsp:nvSpPr>
        <dsp:cNvPr id="0" name=""/>
        <dsp:cNvSpPr/>
      </dsp:nvSpPr>
      <dsp:spPr>
        <a:xfrm>
          <a:off x="977345" y="3174868"/>
          <a:ext cx="9081054" cy="8461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9555" tIns="89555" rIns="89555" bIns="89555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Revenue target: Increase by 10% next fiscal year</a:t>
          </a:r>
          <a:endParaRPr lang="en-US" sz="2200" kern="1200" dirty="0"/>
        </a:p>
      </dsp:txBody>
      <dsp:txXfrm>
        <a:off x="977345" y="3174868"/>
        <a:ext cx="9081054" cy="84618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DB9049-0761-464B-8D12-43A8BF7FF0D5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7BFE95-38D1-46EF-B305-A6A7826973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2614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Revenue target: Increase by 10% next fiscal year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7BFE95-38D1-46EF-B305-A6A7826973A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06044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5276088"/>
            <a:ext cx="11347704" cy="78638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4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5980176"/>
            <a:ext cx="11347704" cy="530352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F9A648C8-0436-6FAF-8B52-BA15EFB5F90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42901" y="343038"/>
            <a:ext cx="11506200" cy="4792766"/>
          </a:xfrm>
          <a:custGeom>
            <a:avLst/>
            <a:gdLst>
              <a:gd name="connsiteX0" fmla="*/ 292023 w 11506200"/>
              <a:gd name="connsiteY0" fmla="*/ 0 h 4792766"/>
              <a:gd name="connsiteX1" fmla="*/ 11214177 w 11506200"/>
              <a:gd name="connsiteY1" fmla="*/ 0 h 4792766"/>
              <a:gd name="connsiteX2" fmla="*/ 11506200 w 11506200"/>
              <a:gd name="connsiteY2" fmla="*/ 292023 h 4792766"/>
              <a:gd name="connsiteX3" fmla="*/ 11506200 w 11506200"/>
              <a:gd name="connsiteY3" fmla="*/ 4500743 h 4792766"/>
              <a:gd name="connsiteX4" fmla="*/ 11214177 w 11506200"/>
              <a:gd name="connsiteY4" fmla="*/ 4792766 h 4792766"/>
              <a:gd name="connsiteX5" fmla="*/ 292023 w 11506200"/>
              <a:gd name="connsiteY5" fmla="*/ 4792766 h 4792766"/>
              <a:gd name="connsiteX6" fmla="*/ 0 w 11506200"/>
              <a:gd name="connsiteY6" fmla="*/ 4500743 h 4792766"/>
              <a:gd name="connsiteX7" fmla="*/ 0 w 11506200"/>
              <a:gd name="connsiteY7" fmla="*/ 292023 h 4792766"/>
              <a:gd name="connsiteX8" fmla="*/ 292023 w 11506200"/>
              <a:gd name="connsiteY8" fmla="*/ 0 h 47927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506200" h="4792766">
                <a:moveTo>
                  <a:pt x="292023" y="0"/>
                </a:moveTo>
                <a:lnTo>
                  <a:pt x="11214177" y="0"/>
                </a:lnTo>
                <a:cubicBezTo>
                  <a:pt x="11375457" y="0"/>
                  <a:pt x="11506200" y="130743"/>
                  <a:pt x="11506200" y="292023"/>
                </a:cubicBezTo>
                <a:lnTo>
                  <a:pt x="11506200" y="4500743"/>
                </a:lnTo>
                <a:cubicBezTo>
                  <a:pt x="11506200" y="4662023"/>
                  <a:pt x="11375457" y="4792766"/>
                  <a:pt x="11214177" y="4792766"/>
                </a:cubicBezTo>
                <a:lnTo>
                  <a:pt x="292023" y="4792766"/>
                </a:lnTo>
                <a:cubicBezTo>
                  <a:pt x="130743" y="4792766"/>
                  <a:pt x="0" y="4662023"/>
                  <a:pt x="0" y="4500743"/>
                </a:cubicBezTo>
                <a:lnTo>
                  <a:pt x="0" y="292023"/>
                </a:lnTo>
                <a:cubicBezTo>
                  <a:pt x="0" y="130743"/>
                  <a:pt x="130743" y="0"/>
                  <a:pt x="292023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519672"/>
            <a:ext cx="3494314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6CD91AB5-8D64-469B-81DF-A26B406D2B54}" type="datetime1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6519672"/>
            <a:ext cx="280540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6519672"/>
            <a:ext cx="429207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961011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96B54-ED46-4036-80F8-E8EFB102CB24}" type="datetime1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9714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11480"/>
            <a:ext cx="4590288" cy="373989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2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4873752"/>
            <a:ext cx="4206240" cy="138074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55FC269D-AA10-2D35-8DD6-33E0E2CC406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591348" y="343038"/>
            <a:ext cx="6257031" cy="6172200"/>
          </a:xfrm>
          <a:custGeom>
            <a:avLst/>
            <a:gdLst>
              <a:gd name="connsiteX0" fmla="*/ 318609 w 6257031"/>
              <a:gd name="connsiteY0" fmla="*/ 0 h 6172200"/>
              <a:gd name="connsiteX1" fmla="*/ 5938422 w 6257031"/>
              <a:gd name="connsiteY1" fmla="*/ 0 h 6172200"/>
              <a:gd name="connsiteX2" fmla="*/ 6257031 w 6257031"/>
              <a:gd name="connsiteY2" fmla="*/ 318609 h 6172200"/>
              <a:gd name="connsiteX3" fmla="*/ 6257031 w 6257031"/>
              <a:gd name="connsiteY3" fmla="*/ 5853591 h 6172200"/>
              <a:gd name="connsiteX4" fmla="*/ 5938422 w 6257031"/>
              <a:gd name="connsiteY4" fmla="*/ 6172200 h 6172200"/>
              <a:gd name="connsiteX5" fmla="*/ 318609 w 6257031"/>
              <a:gd name="connsiteY5" fmla="*/ 6172200 h 6172200"/>
              <a:gd name="connsiteX6" fmla="*/ 0 w 6257031"/>
              <a:gd name="connsiteY6" fmla="*/ 5853591 h 6172200"/>
              <a:gd name="connsiteX7" fmla="*/ 0 w 6257031"/>
              <a:gd name="connsiteY7" fmla="*/ 318609 h 6172200"/>
              <a:gd name="connsiteX8" fmla="*/ 318609 w 6257031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257031" h="6172200">
                <a:moveTo>
                  <a:pt x="318609" y="0"/>
                </a:moveTo>
                <a:lnTo>
                  <a:pt x="5938422" y="0"/>
                </a:lnTo>
                <a:cubicBezTo>
                  <a:pt x="6114385" y="0"/>
                  <a:pt x="6257031" y="142646"/>
                  <a:pt x="6257031" y="318609"/>
                </a:cubicBezTo>
                <a:lnTo>
                  <a:pt x="6257031" y="5853591"/>
                </a:lnTo>
                <a:cubicBezTo>
                  <a:pt x="6257031" y="6029554"/>
                  <a:pt x="6114385" y="6172200"/>
                  <a:pt x="5938422" y="6172200"/>
                </a:cubicBezTo>
                <a:lnTo>
                  <a:pt x="318609" y="6172200"/>
                </a:lnTo>
                <a:cubicBezTo>
                  <a:pt x="142646" y="6172200"/>
                  <a:pt x="0" y="6029554"/>
                  <a:pt x="0" y="5853591"/>
                </a:cubicBezTo>
                <a:lnTo>
                  <a:pt x="0" y="318609"/>
                </a:lnTo>
                <a:cubicBezTo>
                  <a:pt x="0" y="142646"/>
                  <a:pt x="142646" y="0"/>
                  <a:pt x="318609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164B5AC7-D387-41BC-BBB6-F6DD0E8CACDB}" type="datetime1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58793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11480"/>
            <a:ext cx="5397718" cy="373989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6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4873752"/>
            <a:ext cx="4517136" cy="138074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A0D73698-4765-4C7F-8C74-6EF048F95E94}" type="datetime1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8F28510C-0939-D915-FCC8-7D8AD447578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20113" y="342900"/>
            <a:ext cx="5131133" cy="6172200"/>
          </a:xfrm>
          <a:custGeom>
            <a:avLst/>
            <a:gdLst>
              <a:gd name="connsiteX0" fmla="*/ 305905 w 5334000"/>
              <a:gd name="connsiteY0" fmla="*/ 0 h 6172200"/>
              <a:gd name="connsiteX1" fmla="*/ 5028095 w 5334000"/>
              <a:gd name="connsiteY1" fmla="*/ 0 h 6172200"/>
              <a:gd name="connsiteX2" fmla="*/ 5334000 w 5334000"/>
              <a:gd name="connsiteY2" fmla="*/ 305905 h 6172200"/>
              <a:gd name="connsiteX3" fmla="*/ 5334000 w 5334000"/>
              <a:gd name="connsiteY3" fmla="*/ 5866295 h 6172200"/>
              <a:gd name="connsiteX4" fmla="*/ 5028095 w 5334000"/>
              <a:gd name="connsiteY4" fmla="*/ 6172200 h 6172200"/>
              <a:gd name="connsiteX5" fmla="*/ 305905 w 5334000"/>
              <a:gd name="connsiteY5" fmla="*/ 6172200 h 6172200"/>
              <a:gd name="connsiteX6" fmla="*/ 0 w 5334000"/>
              <a:gd name="connsiteY6" fmla="*/ 5866295 h 6172200"/>
              <a:gd name="connsiteX7" fmla="*/ 0 w 5334000"/>
              <a:gd name="connsiteY7" fmla="*/ 305905 h 6172200"/>
              <a:gd name="connsiteX8" fmla="*/ 305905 w 5334000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334000" h="6172200">
                <a:moveTo>
                  <a:pt x="305905" y="0"/>
                </a:moveTo>
                <a:lnTo>
                  <a:pt x="5028095" y="0"/>
                </a:lnTo>
                <a:cubicBezTo>
                  <a:pt x="5197042" y="0"/>
                  <a:pt x="5334000" y="136958"/>
                  <a:pt x="5334000" y="305905"/>
                </a:cubicBezTo>
                <a:lnTo>
                  <a:pt x="5334000" y="5866295"/>
                </a:lnTo>
                <a:cubicBezTo>
                  <a:pt x="5334000" y="6035242"/>
                  <a:pt x="5197042" y="6172200"/>
                  <a:pt x="5028095" y="6172200"/>
                </a:cubicBezTo>
                <a:lnTo>
                  <a:pt x="305905" y="6172200"/>
                </a:lnTo>
                <a:cubicBezTo>
                  <a:pt x="136958" y="6172200"/>
                  <a:pt x="0" y="6035242"/>
                  <a:pt x="0" y="5866295"/>
                </a:cubicBezTo>
                <a:lnTo>
                  <a:pt x="0" y="305905"/>
                </a:lnTo>
                <a:cubicBezTo>
                  <a:pt x="0" y="136958"/>
                  <a:pt x="136958" y="0"/>
                  <a:pt x="305905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618406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69480" y="411480"/>
            <a:ext cx="4361688" cy="396849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2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69480" y="4873752"/>
            <a:ext cx="4206240" cy="138074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55FC269D-AA10-2D35-8DD6-33E0E2CC406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47472" y="343038"/>
            <a:ext cx="6257031" cy="6172200"/>
          </a:xfrm>
          <a:custGeom>
            <a:avLst/>
            <a:gdLst>
              <a:gd name="connsiteX0" fmla="*/ 318609 w 6257031"/>
              <a:gd name="connsiteY0" fmla="*/ 0 h 6172200"/>
              <a:gd name="connsiteX1" fmla="*/ 5938422 w 6257031"/>
              <a:gd name="connsiteY1" fmla="*/ 0 h 6172200"/>
              <a:gd name="connsiteX2" fmla="*/ 6257031 w 6257031"/>
              <a:gd name="connsiteY2" fmla="*/ 318609 h 6172200"/>
              <a:gd name="connsiteX3" fmla="*/ 6257031 w 6257031"/>
              <a:gd name="connsiteY3" fmla="*/ 5853591 h 6172200"/>
              <a:gd name="connsiteX4" fmla="*/ 5938422 w 6257031"/>
              <a:gd name="connsiteY4" fmla="*/ 6172200 h 6172200"/>
              <a:gd name="connsiteX5" fmla="*/ 318609 w 6257031"/>
              <a:gd name="connsiteY5" fmla="*/ 6172200 h 6172200"/>
              <a:gd name="connsiteX6" fmla="*/ 0 w 6257031"/>
              <a:gd name="connsiteY6" fmla="*/ 5853591 h 6172200"/>
              <a:gd name="connsiteX7" fmla="*/ 0 w 6257031"/>
              <a:gd name="connsiteY7" fmla="*/ 318609 h 6172200"/>
              <a:gd name="connsiteX8" fmla="*/ 318609 w 6257031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257031" h="6172200">
                <a:moveTo>
                  <a:pt x="318609" y="0"/>
                </a:moveTo>
                <a:lnTo>
                  <a:pt x="5938422" y="0"/>
                </a:lnTo>
                <a:cubicBezTo>
                  <a:pt x="6114385" y="0"/>
                  <a:pt x="6257031" y="142646"/>
                  <a:pt x="6257031" y="318609"/>
                </a:cubicBezTo>
                <a:lnTo>
                  <a:pt x="6257031" y="5853591"/>
                </a:lnTo>
                <a:cubicBezTo>
                  <a:pt x="6257031" y="6029554"/>
                  <a:pt x="6114385" y="6172200"/>
                  <a:pt x="5938422" y="6172200"/>
                </a:cubicBezTo>
                <a:lnTo>
                  <a:pt x="318609" y="6172200"/>
                </a:lnTo>
                <a:cubicBezTo>
                  <a:pt x="142646" y="6172200"/>
                  <a:pt x="0" y="6029554"/>
                  <a:pt x="0" y="5853591"/>
                </a:cubicBezTo>
                <a:lnTo>
                  <a:pt x="0" y="318609"/>
                </a:lnTo>
                <a:cubicBezTo>
                  <a:pt x="0" y="142646"/>
                  <a:pt x="142646" y="0"/>
                  <a:pt x="318609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19A3EA51-69C4-4090-B98A-31CA47A2E35E}" type="datetime1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214598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38912"/>
            <a:ext cx="9317736" cy="4453128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9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4965192"/>
            <a:ext cx="5431536" cy="128930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6633933-AD95-42CF-A390-A7073FD506A1}" type="datetime1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65286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08176" y="1536192"/>
            <a:ext cx="9171432" cy="2615184"/>
          </a:xfrm>
        </p:spPr>
        <p:txBody>
          <a:bodyPr anchor="ctr">
            <a:normAutofit/>
          </a:bodyPr>
          <a:lstStyle>
            <a:lvl1pPr algn="ctr">
              <a:defRPr sz="54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08176" y="4427554"/>
            <a:ext cx="9171432" cy="11430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D50E307-C64C-483A-9485-A61D01D72197}" type="datetime1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135380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38912"/>
            <a:ext cx="11494008" cy="465429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125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5093208"/>
            <a:ext cx="5669280" cy="1161288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BC36CA3-7064-4E52-B24E-E3CC37B36CB8}" type="datetime1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97822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27A12A6-507C-2714-2F24-09ADE11584C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1810512"/>
            <a:ext cx="7772400" cy="4562856"/>
          </a:xfrm>
        </p:spPr>
        <p:txBody>
          <a:bodyPr anchor="b">
            <a:normAutofit/>
          </a:bodyPr>
          <a:lstStyle>
            <a:lvl1pPr>
              <a:defRPr sz="80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33F469A-9BA4-41D9-A358-7174319CB857}" type="datetime1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71913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11480"/>
            <a:ext cx="11045952" cy="1828800"/>
          </a:xfrm>
        </p:spPr>
        <p:txBody>
          <a:bodyPr anchor="t">
            <a:normAutofit/>
          </a:bodyPr>
          <a:lstStyle>
            <a:lvl1pPr>
              <a:defRPr sz="8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98464" y="2423160"/>
            <a:ext cx="5486400" cy="3886200"/>
          </a:xfrm>
        </p:spPr>
        <p:txBody>
          <a:bodyPr vert="horz" lIns="91440" tIns="45720" rIns="91440" bIns="45720" rtlCol="0">
            <a:normAutofit/>
          </a:bodyPr>
          <a:lstStyle>
            <a:lvl1pPr marL="457200" indent="-457200">
              <a:buFont typeface="+mj-lt"/>
              <a:buAutoNum type="arabicPeriod"/>
              <a:defRPr lang="en-US" dirty="0"/>
            </a:lvl1pPr>
            <a:lvl2pPr marL="571500" indent="-342900">
              <a:buFont typeface="+mj-lt"/>
              <a:buAutoNum type="arabicPeriod"/>
              <a:defRPr lang="en-US" dirty="0"/>
            </a:lvl2pPr>
            <a:lvl3pPr marL="800100" indent="-342900">
              <a:buFont typeface="+mj-lt"/>
              <a:buAutoNum type="arabicPeriod"/>
              <a:defRPr lang="en-US" dirty="0"/>
            </a:lvl3pPr>
            <a:lvl4pPr>
              <a:buFont typeface="+mj-lt"/>
              <a:buAutoNum type="arabicPeriod"/>
              <a:defRPr lang="en-US" dirty="0"/>
            </a:lvl4pPr>
            <a:lvl5pPr>
              <a:buFont typeface="+mj-lt"/>
              <a:buAutoNum type="arabicPeriod"/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B0C55-2E11-4E7F-9EF8-868B07C6C42C}" type="datetime1">
              <a:rPr lang="en-US" smtClean="0"/>
              <a:t>11/19/2025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54466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Phot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44384" y="1012952"/>
            <a:ext cx="4023360" cy="1636776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FE8E4848-C9F6-6844-AB1C-C4F0E8A472A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42901" y="345109"/>
            <a:ext cx="6714969" cy="6163508"/>
          </a:xfrm>
          <a:custGeom>
            <a:avLst/>
            <a:gdLst>
              <a:gd name="connsiteX0" fmla="*/ 281857 w 6714969"/>
              <a:gd name="connsiteY0" fmla="*/ 0 h 6163508"/>
              <a:gd name="connsiteX1" fmla="*/ 6433112 w 6714969"/>
              <a:gd name="connsiteY1" fmla="*/ 0 h 6163508"/>
              <a:gd name="connsiteX2" fmla="*/ 6714969 w 6714969"/>
              <a:gd name="connsiteY2" fmla="*/ 281857 h 6163508"/>
              <a:gd name="connsiteX3" fmla="*/ 6714969 w 6714969"/>
              <a:gd name="connsiteY3" fmla="*/ 5881651 h 6163508"/>
              <a:gd name="connsiteX4" fmla="*/ 6433112 w 6714969"/>
              <a:gd name="connsiteY4" fmla="*/ 6163508 h 6163508"/>
              <a:gd name="connsiteX5" fmla="*/ 281857 w 6714969"/>
              <a:gd name="connsiteY5" fmla="*/ 6163508 h 6163508"/>
              <a:gd name="connsiteX6" fmla="*/ 0 w 6714969"/>
              <a:gd name="connsiteY6" fmla="*/ 5881651 h 6163508"/>
              <a:gd name="connsiteX7" fmla="*/ 0 w 6714969"/>
              <a:gd name="connsiteY7" fmla="*/ 281857 h 6163508"/>
              <a:gd name="connsiteX8" fmla="*/ 281857 w 6714969"/>
              <a:gd name="connsiteY8" fmla="*/ 0 h 61635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714969" h="6163508">
                <a:moveTo>
                  <a:pt x="281857" y="0"/>
                </a:moveTo>
                <a:lnTo>
                  <a:pt x="6433112" y="0"/>
                </a:lnTo>
                <a:cubicBezTo>
                  <a:pt x="6588777" y="0"/>
                  <a:pt x="6714969" y="126192"/>
                  <a:pt x="6714969" y="281857"/>
                </a:cubicBezTo>
                <a:lnTo>
                  <a:pt x="6714969" y="5881651"/>
                </a:lnTo>
                <a:cubicBezTo>
                  <a:pt x="6714969" y="6037316"/>
                  <a:pt x="6588777" y="6163508"/>
                  <a:pt x="6433112" y="6163508"/>
                </a:cubicBezTo>
                <a:lnTo>
                  <a:pt x="281857" y="6163508"/>
                </a:lnTo>
                <a:cubicBezTo>
                  <a:pt x="126192" y="6163508"/>
                  <a:pt x="0" y="6037316"/>
                  <a:pt x="0" y="5881651"/>
                </a:cubicBezTo>
                <a:lnTo>
                  <a:pt x="0" y="281857"/>
                </a:lnTo>
                <a:cubicBezTo>
                  <a:pt x="0" y="126192"/>
                  <a:pt x="126192" y="0"/>
                  <a:pt x="281857" y="0"/>
                </a:cubicBezTo>
                <a:close/>
              </a:path>
            </a:pathLst>
          </a:custGeom>
          <a:blipFill dpi="0" rotWithShape="1">
            <a:blip r:embed="rId2">
              <a:alphaModFix amt="65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644384" y="2896616"/>
            <a:ext cx="4023360" cy="3364992"/>
          </a:xfrm>
        </p:spPr>
        <p:txBody>
          <a:bodyPr vert="horz" lIns="91440" tIns="45720" rIns="91440" bIns="45720" rtlCol="0">
            <a:normAutofit/>
          </a:bodyPr>
          <a:lstStyle>
            <a:lvl1pPr marL="342900" indent="-342900">
              <a:buFont typeface="+mj-lt"/>
              <a:buAutoNum type="arabicPeriod"/>
              <a:defRPr lang="en-US" dirty="0"/>
            </a:lvl1pPr>
            <a:lvl2pPr marL="571500" indent="-342900">
              <a:buFont typeface="+mj-lt"/>
              <a:buAutoNum type="arabicPeriod"/>
              <a:defRPr lang="en-US" dirty="0"/>
            </a:lvl2pPr>
            <a:lvl3pPr marL="800100" indent="-342900">
              <a:buFont typeface="+mj-lt"/>
              <a:buAutoNum type="arabicPeriod"/>
              <a:defRPr lang="en-US" dirty="0"/>
            </a:lvl3pPr>
            <a:lvl4pPr>
              <a:buFont typeface="+mj-lt"/>
              <a:buAutoNum type="arabicPeriod"/>
              <a:defRPr lang="en-US" dirty="0"/>
            </a:lvl4pPr>
            <a:lvl5pPr>
              <a:buFont typeface="+mj-lt"/>
              <a:buAutoNum type="arabicPeriod"/>
              <a:defRPr lang="en-US" dirty="0"/>
            </a:lvl5pPr>
          </a:lstStyle>
          <a:p>
            <a:pPr marL="228600" lvl="0" indent="-228600"/>
            <a:r>
              <a:rPr lang="en-US" dirty="0"/>
              <a:t>Click to edit Master text styles</a:t>
            </a:r>
          </a:p>
          <a:p>
            <a:pPr marL="228600" lvl="1" indent="-228600"/>
            <a:r>
              <a:rPr lang="en-US" dirty="0"/>
              <a:t>Second level</a:t>
            </a:r>
          </a:p>
          <a:p>
            <a:pPr marL="228600" lvl="2" indent="-228600"/>
            <a:r>
              <a:rPr lang="en-US" dirty="0"/>
              <a:t>Third level</a:t>
            </a:r>
          </a:p>
          <a:p>
            <a:pPr marL="228600" lvl="3" indent="-228600"/>
            <a:r>
              <a:rPr lang="en-US" dirty="0"/>
              <a:t>Fourth level</a:t>
            </a:r>
          </a:p>
          <a:p>
            <a:pPr marL="228600" lvl="4" indent="-228600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9FCAD-E19B-4A0F-866E-979EDEC4B525}" type="datetime1">
              <a:rPr lang="en-US" smtClean="0"/>
              <a:t>11/19/2025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836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984" y="2478024"/>
            <a:ext cx="4325112" cy="2454796"/>
          </a:xfrm>
        </p:spPr>
        <p:txBody>
          <a:bodyPr anchor="t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3800" y="2478024"/>
            <a:ext cx="4325112" cy="2459736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B4A14-E3E2-4038-B0C4-0EC5ECBDA17A}" type="datetime1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6602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984" y="2039112"/>
            <a:ext cx="3813048" cy="353872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22392" y="2039112"/>
            <a:ext cx="5047488" cy="353872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01396-E7F4-44BB-B3C1-CAADE8EE1BCB}" type="datetime1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026611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1600200"/>
            <a:ext cx="4142232" cy="46360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22392" y="1600200"/>
            <a:ext cx="5788152" cy="463600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03B70-0873-4F91-B20E-188F8FCBC95A}" type="datetime1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13734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40080"/>
            <a:ext cx="4032504" cy="3621024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22392" y="640080"/>
            <a:ext cx="5971032" cy="5724144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11211-1BBF-43C8-98F1-415153382D43}" type="datetime1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704515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40080"/>
            <a:ext cx="3493008" cy="362102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5696" y="640080"/>
            <a:ext cx="7159752" cy="571976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C37F1-4FE0-40C5-A1CC-AC65E60D9E3F}" type="datetime1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825791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50408" y="548640"/>
            <a:ext cx="6035040" cy="1143000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F226A48-373B-47E6-1E90-9892366CC9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42900" y="342900"/>
            <a:ext cx="4501152" cy="6172200"/>
          </a:xfrm>
          <a:custGeom>
            <a:avLst/>
            <a:gdLst>
              <a:gd name="connsiteX0" fmla="*/ 332635 w 4501152"/>
              <a:gd name="connsiteY0" fmla="*/ 0 h 6172200"/>
              <a:gd name="connsiteX1" fmla="*/ 4168517 w 4501152"/>
              <a:gd name="connsiteY1" fmla="*/ 0 h 6172200"/>
              <a:gd name="connsiteX2" fmla="*/ 4501152 w 4501152"/>
              <a:gd name="connsiteY2" fmla="*/ 331423 h 6172200"/>
              <a:gd name="connsiteX3" fmla="*/ 4501152 w 4501152"/>
              <a:gd name="connsiteY3" fmla="*/ 5840778 h 6172200"/>
              <a:gd name="connsiteX4" fmla="*/ 4168517 w 4501152"/>
              <a:gd name="connsiteY4" fmla="*/ 6172200 h 6172200"/>
              <a:gd name="connsiteX5" fmla="*/ 332635 w 4501152"/>
              <a:gd name="connsiteY5" fmla="*/ 6172200 h 6172200"/>
              <a:gd name="connsiteX6" fmla="*/ 0 w 4501152"/>
              <a:gd name="connsiteY6" fmla="*/ 5840778 h 6172200"/>
              <a:gd name="connsiteX7" fmla="*/ 0 w 4501152"/>
              <a:gd name="connsiteY7" fmla="*/ 331423 h 6172200"/>
              <a:gd name="connsiteX8" fmla="*/ 332635 w 4501152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01152" h="6172200">
                <a:moveTo>
                  <a:pt x="332635" y="0"/>
                </a:moveTo>
                <a:lnTo>
                  <a:pt x="4168517" y="0"/>
                </a:lnTo>
                <a:cubicBezTo>
                  <a:pt x="4352226" y="0"/>
                  <a:pt x="4501152" y="148383"/>
                  <a:pt x="4501152" y="331423"/>
                </a:cubicBezTo>
                <a:lnTo>
                  <a:pt x="4501152" y="5840778"/>
                </a:lnTo>
                <a:cubicBezTo>
                  <a:pt x="4501152" y="6023817"/>
                  <a:pt x="4352226" y="6172200"/>
                  <a:pt x="4168517" y="6172200"/>
                </a:cubicBezTo>
                <a:lnTo>
                  <a:pt x="332635" y="6172200"/>
                </a:lnTo>
                <a:cubicBezTo>
                  <a:pt x="148926" y="6172200"/>
                  <a:pt x="0" y="6023817"/>
                  <a:pt x="0" y="5840778"/>
                </a:cubicBezTo>
                <a:lnTo>
                  <a:pt x="0" y="331423"/>
                </a:lnTo>
                <a:cubicBezTo>
                  <a:pt x="0" y="148383"/>
                  <a:pt x="148926" y="0"/>
                  <a:pt x="33263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50408" y="1828800"/>
            <a:ext cx="6035040" cy="448970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B0F37310-2C84-4F72-97F3-ED5E52F7A674}" type="datetime1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547993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48640"/>
            <a:ext cx="6135624" cy="1143000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1828800"/>
            <a:ext cx="6135624" cy="448970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7373D-8BEF-4D11-A85D-4ADD8461D8CF}" type="datetime1">
              <a:rPr lang="en-US" smtClean="0"/>
              <a:t>11/19/2025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7F11DC52-D1FD-A255-1A04-7A15A9DE3C8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353304" y="352327"/>
            <a:ext cx="4495799" cy="6172200"/>
          </a:xfrm>
          <a:custGeom>
            <a:avLst/>
            <a:gdLst>
              <a:gd name="connsiteX0" fmla="*/ 293171 w 4495799"/>
              <a:gd name="connsiteY0" fmla="*/ 0 h 6172200"/>
              <a:gd name="connsiteX1" fmla="*/ 4202628 w 4495799"/>
              <a:gd name="connsiteY1" fmla="*/ 0 h 6172200"/>
              <a:gd name="connsiteX2" fmla="*/ 4495799 w 4495799"/>
              <a:gd name="connsiteY2" fmla="*/ 293171 h 6172200"/>
              <a:gd name="connsiteX3" fmla="*/ 4495799 w 4495799"/>
              <a:gd name="connsiteY3" fmla="*/ 5879029 h 6172200"/>
              <a:gd name="connsiteX4" fmla="*/ 4202628 w 4495799"/>
              <a:gd name="connsiteY4" fmla="*/ 6172200 h 6172200"/>
              <a:gd name="connsiteX5" fmla="*/ 293171 w 4495799"/>
              <a:gd name="connsiteY5" fmla="*/ 6172200 h 6172200"/>
              <a:gd name="connsiteX6" fmla="*/ 0 w 4495799"/>
              <a:gd name="connsiteY6" fmla="*/ 5879029 h 6172200"/>
              <a:gd name="connsiteX7" fmla="*/ 0 w 4495799"/>
              <a:gd name="connsiteY7" fmla="*/ 293171 h 6172200"/>
              <a:gd name="connsiteX8" fmla="*/ 293171 w 4495799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495799" h="6172200">
                <a:moveTo>
                  <a:pt x="293171" y="0"/>
                </a:moveTo>
                <a:lnTo>
                  <a:pt x="4202628" y="0"/>
                </a:lnTo>
                <a:cubicBezTo>
                  <a:pt x="4364542" y="0"/>
                  <a:pt x="4495799" y="131257"/>
                  <a:pt x="4495799" y="293171"/>
                </a:cubicBezTo>
                <a:lnTo>
                  <a:pt x="4495799" y="5879029"/>
                </a:lnTo>
                <a:cubicBezTo>
                  <a:pt x="4495799" y="6040943"/>
                  <a:pt x="4364542" y="6172200"/>
                  <a:pt x="4202628" y="6172200"/>
                </a:cubicBezTo>
                <a:lnTo>
                  <a:pt x="293171" y="6172200"/>
                </a:lnTo>
                <a:cubicBezTo>
                  <a:pt x="131257" y="6172200"/>
                  <a:pt x="0" y="6040943"/>
                  <a:pt x="0" y="5879029"/>
                </a:cubicBezTo>
                <a:lnTo>
                  <a:pt x="0" y="293171"/>
                </a:lnTo>
                <a:cubicBezTo>
                  <a:pt x="0" y="131257"/>
                  <a:pt x="131257" y="0"/>
                  <a:pt x="293171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374940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0076" y="320040"/>
            <a:ext cx="676656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9539F8C7-DD74-7177-C2DA-02533B6576F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39373" y="344424"/>
            <a:ext cx="3808553" cy="6172200"/>
          </a:xfrm>
          <a:custGeom>
            <a:avLst/>
            <a:gdLst>
              <a:gd name="connsiteX0" fmla="*/ 292116 w 3808553"/>
              <a:gd name="connsiteY0" fmla="*/ 0 h 6172200"/>
              <a:gd name="connsiteX1" fmla="*/ 3516437 w 3808553"/>
              <a:gd name="connsiteY1" fmla="*/ 0 h 6172200"/>
              <a:gd name="connsiteX2" fmla="*/ 3808553 w 3808553"/>
              <a:gd name="connsiteY2" fmla="*/ 292116 h 6172200"/>
              <a:gd name="connsiteX3" fmla="*/ 3808553 w 3808553"/>
              <a:gd name="connsiteY3" fmla="*/ 5880084 h 6172200"/>
              <a:gd name="connsiteX4" fmla="*/ 3516437 w 3808553"/>
              <a:gd name="connsiteY4" fmla="*/ 6172200 h 6172200"/>
              <a:gd name="connsiteX5" fmla="*/ 292116 w 3808553"/>
              <a:gd name="connsiteY5" fmla="*/ 6172200 h 6172200"/>
              <a:gd name="connsiteX6" fmla="*/ 0 w 3808553"/>
              <a:gd name="connsiteY6" fmla="*/ 5880084 h 6172200"/>
              <a:gd name="connsiteX7" fmla="*/ 0 w 3808553"/>
              <a:gd name="connsiteY7" fmla="*/ 292116 h 6172200"/>
              <a:gd name="connsiteX8" fmla="*/ 292116 w 3808553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08553" h="6172200">
                <a:moveTo>
                  <a:pt x="292116" y="0"/>
                </a:moveTo>
                <a:lnTo>
                  <a:pt x="3516437" y="0"/>
                </a:lnTo>
                <a:cubicBezTo>
                  <a:pt x="3677768" y="0"/>
                  <a:pt x="3808553" y="130785"/>
                  <a:pt x="3808553" y="292116"/>
                </a:cubicBezTo>
                <a:lnTo>
                  <a:pt x="3808553" y="5880084"/>
                </a:lnTo>
                <a:cubicBezTo>
                  <a:pt x="3808553" y="6041415"/>
                  <a:pt x="3677768" y="6172200"/>
                  <a:pt x="3516437" y="6172200"/>
                </a:cubicBezTo>
                <a:lnTo>
                  <a:pt x="292116" y="6172200"/>
                </a:lnTo>
                <a:cubicBezTo>
                  <a:pt x="130785" y="6172200"/>
                  <a:pt x="0" y="6041415"/>
                  <a:pt x="0" y="5880084"/>
                </a:cubicBezTo>
                <a:lnTo>
                  <a:pt x="0" y="292116"/>
                </a:lnTo>
                <a:cubicBezTo>
                  <a:pt x="0" y="130785"/>
                  <a:pt x="130785" y="0"/>
                  <a:pt x="29211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20076" y="1380744"/>
            <a:ext cx="676656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04D0A65-74B1-4258-9347-517577BEF7B0}" type="datetime1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508484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320040"/>
            <a:ext cx="6858000" cy="93268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1380744"/>
            <a:ext cx="6858000" cy="49834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00591-709C-49DC-8FE0-9F32B5969F72}" type="datetime1">
              <a:rPr lang="en-US" smtClean="0"/>
              <a:t>11/19/2025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6FEEE5C-15B3-8386-23D3-B6B236C668F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46768" y="344424"/>
            <a:ext cx="3808553" cy="6172200"/>
          </a:xfrm>
          <a:custGeom>
            <a:avLst/>
            <a:gdLst>
              <a:gd name="connsiteX0" fmla="*/ 292116 w 3808553"/>
              <a:gd name="connsiteY0" fmla="*/ 0 h 6172200"/>
              <a:gd name="connsiteX1" fmla="*/ 3516437 w 3808553"/>
              <a:gd name="connsiteY1" fmla="*/ 0 h 6172200"/>
              <a:gd name="connsiteX2" fmla="*/ 3808553 w 3808553"/>
              <a:gd name="connsiteY2" fmla="*/ 292116 h 6172200"/>
              <a:gd name="connsiteX3" fmla="*/ 3808553 w 3808553"/>
              <a:gd name="connsiteY3" fmla="*/ 5880084 h 6172200"/>
              <a:gd name="connsiteX4" fmla="*/ 3516437 w 3808553"/>
              <a:gd name="connsiteY4" fmla="*/ 6172200 h 6172200"/>
              <a:gd name="connsiteX5" fmla="*/ 292116 w 3808553"/>
              <a:gd name="connsiteY5" fmla="*/ 6172200 h 6172200"/>
              <a:gd name="connsiteX6" fmla="*/ 0 w 3808553"/>
              <a:gd name="connsiteY6" fmla="*/ 5880084 h 6172200"/>
              <a:gd name="connsiteX7" fmla="*/ 0 w 3808553"/>
              <a:gd name="connsiteY7" fmla="*/ 292116 h 6172200"/>
              <a:gd name="connsiteX8" fmla="*/ 292116 w 3808553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08553" h="6172200">
                <a:moveTo>
                  <a:pt x="292116" y="0"/>
                </a:moveTo>
                <a:lnTo>
                  <a:pt x="3516437" y="0"/>
                </a:lnTo>
                <a:cubicBezTo>
                  <a:pt x="3677768" y="0"/>
                  <a:pt x="3808553" y="130785"/>
                  <a:pt x="3808553" y="292116"/>
                </a:cubicBezTo>
                <a:lnTo>
                  <a:pt x="3808553" y="5880084"/>
                </a:lnTo>
                <a:cubicBezTo>
                  <a:pt x="3808553" y="6041415"/>
                  <a:pt x="3677768" y="6172200"/>
                  <a:pt x="3516437" y="6172200"/>
                </a:cubicBezTo>
                <a:lnTo>
                  <a:pt x="292116" y="6172200"/>
                </a:lnTo>
                <a:cubicBezTo>
                  <a:pt x="130785" y="6172200"/>
                  <a:pt x="0" y="6041415"/>
                  <a:pt x="0" y="5880084"/>
                </a:cubicBezTo>
                <a:lnTo>
                  <a:pt x="0" y="292116"/>
                </a:lnTo>
                <a:cubicBezTo>
                  <a:pt x="0" y="130785"/>
                  <a:pt x="130785" y="0"/>
                  <a:pt x="29211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227918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6328" y="601755"/>
            <a:ext cx="4389120" cy="152704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B281557-D8C5-3666-A17C-BD66A5F9C04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41522" y="342902"/>
            <a:ext cx="6249778" cy="6172343"/>
          </a:xfrm>
          <a:custGeom>
            <a:avLst/>
            <a:gdLst>
              <a:gd name="connsiteX0" fmla="*/ 258473 w 6249778"/>
              <a:gd name="connsiteY0" fmla="*/ 0 h 6172343"/>
              <a:gd name="connsiteX1" fmla="*/ 5991306 w 6249778"/>
              <a:gd name="connsiteY1" fmla="*/ 0 h 6172343"/>
              <a:gd name="connsiteX2" fmla="*/ 6249778 w 6249778"/>
              <a:gd name="connsiteY2" fmla="*/ 257942 h 6172343"/>
              <a:gd name="connsiteX3" fmla="*/ 6249778 w 6249778"/>
              <a:gd name="connsiteY3" fmla="*/ 5914401 h 6172343"/>
              <a:gd name="connsiteX4" fmla="*/ 5991306 w 6249778"/>
              <a:gd name="connsiteY4" fmla="*/ 6172343 h 6172343"/>
              <a:gd name="connsiteX5" fmla="*/ 258473 w 6249778"/>
              <a:gd name="connsiteY5" fmla="*/ 6172343 h 6172343"/>
              <a:gd name="connsiteX6" fmla="*/ 0 w 6249778"/>
              <a:gd name="connsiteY6" fmla="*/ 5914401 h 6172343"/>
              <a:gd name="connsiteX7" fmla="*/ 0 w 6249778"/>
              <a:gd name="connsiteY7" fmla="*/ 257942 h 6172343"/>
              <a:gd name="connsiteX8" fmla="*/ 258473 w 6249778"/>
              <a:gd name="connsiteY8" fmla="*/ 0 h 6172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249778" h="6172343">
                <a:moveTo>
                  <a:pt x="258473" y="0"/>
                </a:moveTo>
                <a:lnTo>
                  <a:pt x="5991306" y="0"/>
                </a:lnTo>
                <a:cubicBezTo>
                  <a:pt x="6134057" y="0"/>
                  <a:pt x="6249778" y="115484"/>
                  <a:pt x="6249778" y="257942"/>
                </a:cubicBezTo>
                <a:lnTo>
                  <a:pt x="6249778" y="5914401"/>
                </a:lnTo>
                <a:cubicBezTo>
                  <a:pt x="6249778" y="6056859"/>
                  <a:pt x="6134057" y="6172343"/>
                  <a:pt x="5991306" y="6172343"/>
                </a:cubicBezTo>
                <a:lnTo>
                  <a:pt x="258473" y="6172343"/>
                </a:lnTo>
                <a:cubicBezTo>
                  <a:pt x="115722" y="6172343"/>
                  <a:pt x="0" y="6056859"/>
                  <a:pt x="0" y="5914401"/>
                </a:cubicBezTo>
                <a:lnTo>
                  <a:pt x="0" y="257942"/>
                </a:lnTo>
                <a:cubicBezTo>
                  <a:pt x="0" y="115484"/>
                  <a:pt x="115722" y="0"/>
                  <a:pt x="258473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96328" y="2276856"/>
            <a:ext cx="4389120" cy="404164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53D0D37D-152B-44E6-AB8F-60E41FE679D7}" type="datetime1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658684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03504"/>
            <a:ext cx="4480560" cy="152704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7" y="2276856"/>
            <a:ext cx="4480560" cy="404164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FD62D-5EED-4798-9EBA-B6E1A9B98072}" type="datetime1">
              <a:rPr lang="en-US" smtClean="0"/>
              <a:t>11/19/2025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0846273-A5CB-BDCB-C625-903F863EC30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737594" y="342900"/>
            <a:ext cx="6111507" cy="6172338"/>
          </a:xfrm>
          <a:custGeom>
            <a:avLst/>
            <a:gdLst>
              <a:gd name="connsiteX0" fmla="*/ 269395 w 6111507"/>
              <a:gd name="connsiteY0" fmla="*/ 0 h 6172338"/>
              <a:gd name="connsiteX1" fmla="*/ 5842112 w 6111507"/>
              <a:gd name="connsiteY1" fmla="*/ 0 h 6172338"/>
              <a:gd name="connsiteX2" fmla="*/ 6111507 w 6111507"/>
              <a:gd name="connsiteY2" fmla="*/ 268145 h 6172338"/>
              <a:gd name="connsiteX3" fmla="*/ 6111507 w 6111507"/>
              <a:gd name="connsiteY3" fmla="*/ 5904194 h 6172338"/>
              <a:gd name="connsiteX4" fmla="*/ 5842112 w 6111507"/>
              <a:gd name="connsiteY4" fmla="*/ 6172338 h 6172338"/>
              <a:gd name="connsiteX5" fmla="*/ 269395 w 6111507"/>
              <a:gd name="connsiteY5" fmla="*/ 6172338 h 6172338"/>
              <a:gd name="connsiteX6" fmla="*/ 0 w 6111507"/>
              <a:gd name="connsiteY6" fmla="*/ 5904194 h 6172338"/>
              <a:gd name="connsiteX7" fmla="*/ 0 w 6111507"/>
              <a:gd name="connsiteY7" fmla="*/ 268145 h 6172338"/>
              <a:gd name="connsiteX8" fmla="*/ 269395 w 6111507"/>
              <a:gd name="connsiteY8" fmla="*/ 0 h 6172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111507" h="6172338">
                <a:moveTo>
                  <a:pt x="269395" y="0"/>
                </a:moveTo>
                <a:lnTo>
                  <a:pt x="5842112" y="0"/>
                </a:lnTo>
                <a:cubicBezTo>
                  <a:pt x="5990895" y="0"/>
                  <a:pt x="6111507" y="120052"/>
                  <a:pt x="6111507" y="268145"/>
                </a:cubicBezTo>
                <a:lnTo>
                  <a:pt x="6111507" y="5904194"/>
                </a:lnTo>
                <a:cubicBezTo>
                  <a:pt x="6111507" y="6052286"/>
                  <a:pt x="5990895" y="6172338"/>
                  <a:pt x="5842112" y="6172338"/>
                </a:cubicBezTo>
                <a:lnTo>
                  <a:pt x="269395" y="6172338"/>
                </a:lnTo>
                <a:cubicBezTo>
                  <a:pt x="120612" y="6172338"/>
                  <a:pt x="0" y="6052286"/>
                  <a:pt x="0" y="5904194"/>
                </a:cubicBezTo>
                <a:lnTo>
                  <a:pt x="0" y="268145"/>
                </a:lnTo>
                <a:cubicBezTo>
                  <a:pt x="0" y="120052"/>
                  <a:pt x="120612" y="0"/>
                  <a:pt x="26939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94375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6328" y="320040"/>
            <a:ext cx="4389120" cy="93268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B281557-D8C5-3666-A17C-BD66A5F9C04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41522" y="342902"/>
            <a:ext cx="6249778" cy="6172343"/>
          </a:xfrm>
          <a:custGeom>
            <a:avLst/>
            <a:gdLst>
              <a:gd name="connsiteX0" fmla="*/ 258473 w 6249778"/>
              <a:gd name="connsiteY0" fmla="*/ 0 h 6172343"/>
              <a:gd name="connsiteX1" fmla="*/ 5991306 w 6249778"/>
              <a:gd name="connsiteY1" fmla="*/ 0 h 6172343"/>
              <a:gd name="connsiteX2" fmla="*/ 6249778 w 6249778"/>
              <a:gd name="connsiteY2" fmla="*/ 257942 h 6172343"/>
              <a:gd name="connsiteX3" fmla="*/ 6249778 w 6249778"/>
              <a:gd name="connsiteY3" fmla="*/ 5914401 h 6172343"/>
              <a:gd name="connsiteX4" fmla="*/ 5991306 w 6249778"/>
              <a:gd name="connsiteY4" fmla="*/ 6172343 h 6172343"/>
              <a:gd name="connsiteX5" fmla="*/ 258473 w 6249778"/>
              <a:gd name="connsiteY5" fmla="*/ 6172343 h 6172343"/>
              <a:gd name="connsiteX6" fmla="*/ 0 w 6249778"/>
              <a:gd name="connsiteY6" fmla="*/ 5914401 h 6172343"/>
              <a:gd name="connsiteX7" fmla="*/ 0 w 6249778"/>
              <a:gd name="connsiteY7" fmla="*/ 257942 h 6172343"/>
              <a:gd name="connsiteX8" fmla="*/ 258473 w 6249778"/>
              <a:gd name="connsiteY8" fmla="*/ 0 h 6172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249778" h="6172343">
                <a:moveTo>
                  <a:pt x="258473" y="0"/>
                </a:moveTo>
                <a:lnTo>
                  <a:pt x="5991306" y="0"/>
                </a:lnTo>
                <a:cubicBezTo>
                  <a:pt x="6134057" y="0"/>
                  <a:pt x="6249778" y="115484"/>
                  <a:pt x="6249778" y="257942"/>
                </a:cubicBezTo>
                <a:lnTo>
                  <a:pt x="6249778" y="5914401"/>
                </a:lnTo>
                <a:cubicBezTo>
                  <a:pt x="6249778" y="6056859"/>
                  <a:pt x="6134057" y="6172343"/>
                  <a:pt x="5991306" y="6172343"/>
                </a:cubicBezTo>
                <a:lnTo>
                  <a:pt x="258473" y="6172343"/>
                </a:lnTo>
                <a:cubicBezTo>
                  <a:pt x="115722" y="6172343"/>
                  <a:pt x="0" y="6056859"/>
                  <a:pt x="0" y="5914401"/>
                </a:cubicBezTo>
                <a:lnTo>
                  <a:pt x="0" y="257942"/>
                </a:lnTo>
                <a:cubicBezTo>
                  <a:pt x="0" y="115484"/>
                  <a:pt x="115722" y="0"/>
                  <a:pt x="258473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96328" y="1380744"/>
            <a:ext cx="4389120" cy="49834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6FCFE97D-4F8B-4270-9223-9617008B9FA3}" type="datetime1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411420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7" y="320040"/>
            <a:ext cx="4573413" cy="93268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6" y="1380744"/>
            <a:ext cx="4573413" cy="49834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B1D5C-1F84-4585-9043-549E87BD77AE}" type="datetime1">
              <a:rPr lang="en-US" smtClean="0"/>
              <a:t>11/19/2025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0846273-A5CB-BDCB-C625-903F863EC30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737594" y="342900"/>
            <a:ext cx="6111507" cy="6172338"/>
          </a:xfrm>
          <a:custGeom>
            <a:avLst/>
            <a:gdLst>
              <a:gd name="connsiteX0" fmla="*/ 269395 w 6111507"/>
              <a:gd name="connsiteY0" fmla="*/ 0 h 6172338"/>
              <a:gd name="connsiteX1" fmla="*/ 5842112 w 6111507"/>
              <a:gd name="connsiteY1" fmla="*/ 0 h 6172338"/>
              <a:gd name="connsiteX2" fmla="*/ 6111507 w 6111507"/>
              <a:gd name="connsiteY2" fmla="*/ 268145 h 6172338"/>
              <a:gd name="connsiteX3" fmla="*/ 6111507 w 6111507"/>
              <a:gd name="connsiteY3" fmla="*/ 5904194 h 6172338"/>
              <a:gd name="connsiteX4" fmla="*/ 5842112 w 6111507"/>
              <a:gd name="connsiteY4" fmla="*/ 6172338 h 6172338"/>
              <a:gd name="connsiteX5" fmla="*/ 269395 w 6111507"/>
              <a:gd name="connsiteY5" fmla="*/ 6172338 h 6172338"/>
              <a:gd name="connsiteX6" fmla="*/ 0 w 6111507"/>
              <a:gd name="connsiteY6" fmla="*/ 5904194 h 6172338"/>
              <a:gd name="connsiteX7" fmla="*/ 0 w 6111507"/>
              <a:gd name="connsiteY7" fmla="*/ 268145 h 6172338"/>
              <a:gd name="connsiteX8" fmla="*/ 269395 w 6111507"/>
              <a:gd name="connsiteY8" fmla="*/ 0 h 6172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111507" h="6172338">
                <a:moveTo>
                  <a:pt x="269395" y="0"/>
                </a:moveTo>
                <a:lnTo>
                  <a:pt x="5842112" y="0"/>
                </a:lnTo>
                <a:cubicBezTo>
                  <a:pt x="5990895" y="0"/>
                  <a:pt x="6111507" y="120052"/>
                  <a:pt x="6111507" y="268145"/>
                </a:cubicBezTo>
                <a:lnTo>
                  <a:pt x="6111507" y="5904194"/>
                </a:lnTo>
                <a:cubicBezTo>
                  <a:pt x="6111507" y="6052286"/>
                  <a:pt x="5990895" y="6172338"/>
                  <a:pt x="5842112" y="6172338"/>
                </a:cubicBezTo>
                <a:lnTo>
                  <a:pt x="269395" y="6172338"/>
                </a:lnTo>
                <a:cubicBezTo>
                  <a:pt x="120612" y="6172338"/>
                  <a:pt x="0" y="6052286"/>
                  <a:pt x="0" y="5904194"/>
                </a:cubicBezTo>
                <a:lnTo>
                  <a:pt x="0" y="268145"/>
                </a:lnTo>
                <a:cubicBezTo>
                  <a:pt x="0" y="120052"/>
                  <a:pt x="120612" y="0"/>
                  <a:pt x="26939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242317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21040" y="603504"/>
            <a:ext cx="3401568" cy="152704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65B0EC94-28E6-D665-7491-10A308B0B42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42900" y="342901"/>
            <a:ext cx="7391400" cy="6172200"/>
          </a:xfrm>
          <a:custGeom>
            <a:avLst/>
            <a:gdLst>
              <a:gd name="connsiteX0" fmla="*/ 267246 w 7391400"/>
              <a:gd name="connsiteY0" fmla="*/ 0 h 6172200"/>
              <a:gd name="connsiteX1" fmla="*/ 7124155 w 7391400"/>
              <a:gd name="connsiteY1" fmla="*/ 0 h 6172200"/>
              <a:gd name="connsiteX2" fmla="*/ 7391400 w 7391400"/>
              <a:gd name="connsiteY2" fmla="*/ 266886 h 6172200"/>
              <a:gd name="connsiteX3" fmla="*/ 7391400 w 7391400"/>
              <a:gd name="connsiteY3" fmla="*/ 5905314 h 6172200"/>
              <a:gd name="connsiteX4" fmla="*/ 7124155 w 7391400"/>
              <a:gd name="connsiteY4" fmla="*/ 6172200 h 6172200"/>
              <a:gd name="connsiteX5" fmla="*/ 267246 w 7391400"/>
              <a:gd name="connsiteY5" fmla="*/ 6172200 h 6172200"/>
              <a:gd name="connsiteX6" fmla="*/ 0 w 7391400"/>
              <a:gd name="connsiteY6" fmla="*/ 5905314 h 6172200"/>
              <a:gd name="connsiteX7" fmla="*/ 0 w 7391400"/>
              <a:gd name="connsiteY7" fmla="*/ 266886 h 6172200"/>
              <a:gd name="connsiteX8" fmla="*/ 267246 w 7391400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391400" h="6172200">
                <a:moveTo>
                  <a:pt x="267246" y="0"/>
                </a:moveTo>
                <a:lnTo>
                  <a:pt x="7124155" y="0"/>
                </a:lnTo>
                <a:cubicBezTo>
                  <a:pt x="7271750" y="0"/>
                  <a:pt x="7391400" y="119489"/>
                  <a:pt x="7391400" y="266886"/>
                </a:cubicBezTo>
                <a:lnTo>
                  <a:pt x="7391400" y="5905314"/>
                </a:lnTo>
                <a:cubicBezTo>
                  <a:pt x="7391400" y="6052711"/>
                  <a:pt x="7271750" y="6172200"/>
                  <a:pt x="7124155" y="6172200"/>
                </a:cubicBezTo>
                <a:lnTo>
                  <a:pt x="267246" y="6172200"/>
                </a:lnTo>
                <a:cubicBezTo>
                  <a:pt x="119650" y="6172200"/>
                  <a:pt x="0" y="6052711"/>
                  <a:pt x="0" y="5905314"/>
                </a:cubicBezTo>
                <a:lnTo>
                  <a:pt x="0" y="266886"/>
                </a:lnTo>
                <a:cubicBezTo>
                  <a:pt x="0" y="119489"/>
                  <a:pt x="119650" y="0"/>
                  <a:pt x="26724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21040" y="2276856"/>
            <a:ext cx="3401568" cy="404164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71EB90F8-5A2D-4795-872B-662FE96339B2}" type="datetime1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882042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03504"/>
            <a:ext cx="3401568" cy="152704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65B0EC94-28E6-D665-7491-10A308B0B42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502843" y="342901"/>
            <a:ext cx="7346257" cy="6172200"/>
          </a:xfrm>
          <a:custGeom>
            <a:avLst/>
            <a:gdLst>
              <a:gd name="connsiteX0" fmla="*/ 267246 w 7391400"/>
              <a:gd name="connsiteY0" fmla="*/ 0 h 6172200"/>
              <a:gd name="connsiteX1" fmla="*/ 7124155 w 7391400"/>
              <a:gd name="connsiteY1" fmla="*/ 0 h 6172200"/>
              <a:gd name="connsiteX2" fmla="*/ 7391400 w 7391400"/>
              <a:gd name="connsiteY2" fmla="*/ 266886 h 6172200"/>
              <a:gd name="connsiteX3" fmla="*/ 7391400 w 7391400"/>
              <a:gd name="connsiteY3" fmla="*/ 5905314 h 6172200"/>
              <a:gd name="connsiteX4" fmla="*/ 7124155 w 7391400"/>
              <a:gd name="connsiteY4" fmla="*/ 6172200 h 6172200"/>
              <a:gd name="connsiteX5" fmla="*/ 267246 w 7391400"/>
              <a:gd name="connsiteY5" fmla="*/ 6172200 h 6172200"/>
              <a:gd name="connsiteX6" fmla="*/ 0 w 7391400"/>
              <a:gd name="connsiteY6" fmla="*/ 5905314 h 6172200"/>
              <a:gd name="connsiteX7" fmla="*/ 0 w 7391400"/>
              <a:gd name="connsiteY7" fmla="*/ 266886 h 6172200"/>
              <a:gd name="connsiteX8" fmla="*/ 267246 w 7391400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391400" h="6172200">
                <a:moveTo>
                  <a:pt x="267246" y="0"/>
                </a:moveTo>
                <a:lnTo>
                  <a:pt x="7124155" y="0"/>
                </a:lnTo>
                <a:cubicBezTo>
                  <a:pt x="7271750" y="0"/>
                  <a:pt x="7391400" y="119489"/>
                  <a:pt x="7391400" y="266886"/>
                </a:cubicBezTo>
                <a:lnTo>
                  <a:pt x="7391400" y="5905314"/>
                </a:lnTo>
                <a:cubicBezTo>
                  <a:pt x="7391400" y="6052711"/>
                  <a:pt x="7271750" y="6172200"/>
                  <a:pt x="7124155" y="6172200"/>
                </a:cubicBezTo>
                <a:lnTo>
                  <a:pt x="267246" y="6172200"/>
                </a:lnTo>
                <a:cubicBezTo>
                  <a:pt x="119650" y="6172200"/>
                  <a:pt x="0" y="6052711"/>
                  <a:pt x="0" y="5905314"/>
                </a:cubicBezTo>
                <a:lnTo>
                  <a:pt x="0" y="266886"/>
                </a:lnTo>
                <a:cubicBezTo>
                  <a:pt x="0" y="119489"/>
                  <a:pt x="119650" y="0"/>
                  <a:pt x="26724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2276856"/>
            <a:ext cx="3401568" cy="404164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9A22F9C2-5647-4E58-BE9B-A16834D13FE3}" type="datetime1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78887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1896" y="1078992"/>
            <a:ext cx="3273552" cy="1947672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65B0EC94-28E6-D665-7491-10A308B0B42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42900" y="342901"/>
            <a:ext cx="7391400" cy="6172200"/>
          </a:xfrm>
          <a:custGeom>
            <a:avLst/>
            <a:gdLst>
              <a:gd name="connsiteX0" fmla="*/ 267246 w 7391400"/>
              <a:gd name="connsiteY0" fmla="*/ 0 h 6172200"/>
              <a:gd name="connsiteX1" fmla="*/ 7124155 w 7391400"/>
              <a:gd name="connsiteY1" fmla="*/ 0 h 6172200"/>
              <a:gd name="connsiteX2" fmla="*/ 7391400 w 7391400"/>
              <a:gd name="connsiteY2" fmla="*/ 266886 h 6172200"/>
              <a:gd name="connsiteX3" fmla="*/ 7391400 w 7391400"/>
              <a:gd name="connsiteY3" fmla="*/ 5905314 h 6172200"/>
              <a:gd name="connsiteX4" fmla="*/ 7124155 w 7391400"/>
              <a:gd name="connsiteY4" fmla="*/ 6172200 h 6172200"/>
              <a:gd name="connsiteX5" fmla="*/ 267246 w 7391400"/>
              <a:gd name="connsiteY5" fmla="*/ 6172200 h 6172200"/>
              <a:gd name="connsiteX6" fmla="*/ 0 w 7391400"/>
              <a:gd name="connsiteY6" fmla="*/ 5905314 h 6172200"/>
              <a:gd name="connsiteX7" fmla="*/ 0 w 7391400"/>
              <a:gd name="connsiteY7" fmla="*/ 266886 h 6172200"/>
              <a:gd name="connsiteX8" fmla="*/ 267246 w 7391400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391400" h="6172200">
                <a:moveTo>
                  <a:pt x="267246" y="0"/>
                </a:moveTo>
                <a:lnTo>
                  <a:pt x="7124155" y="0"/>
                </a:lnTo>
                <a:cubicBezTo>
                  <a:pt x="7271750" y="0"/>
                  <a:pt x="7391400" y="119489"/>
                  <a:pt x="7391400" y="266886"/>
                </a:cubicBezTo>
                <a:lnTo>
                  <a:pt x="7391400" y="5905314"/>
                </a:lnTo>
                <a:cubicBezTo>
                  <a:pt x="7391400" y="6052711"/>
                  <a:pt x="7271750" y="6172200"/>
                  <a:pt x="7124155" y="6172200"/>
                </a:cubicBezTo>
                <a:lnTo>
                  <a:pt x="267246" y="6172200"/>
                </a:lnTo>
                <a:cubicBezTo>
                  <a:pt x="119650" y="6172200"/>
                  <a:pt x="0" y="6052711"/>
                  <a:pt x="0" y="5905314"/>
                </a:cubicBezTo>
                <a:lnTo>
                  <a:pt x="0" y="266886"/>
                </a:lnTo>
                <a:cubicBezTo>
                  <a:pt x="0" y="119489"/>
                  <a:pt x="119650" y="0"/>
                  <a:pt x="26724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11896" y="3099816"/>
            <a:ext cx="3273552" cy="295351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9B124E6D-88B1-474F-9E7C-C29F02FACC38}" type="datetime1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120645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2" y="5111854"/>
            <a:ext cx="3739279" cy="138988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9" name="Picture Placeholder 17">
            <a:extLst>
              <a:ext uri="{FF2B5EF4-FFF2-40B4-BE49-F238E27FC236}">
                <a16:creationId xmlns:a16="http://schemas.microsoft.com/office/drawing/2014/main" id="{D5837EDE-723C-6CF6-EB95-3AEDA1F07E9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39373" y="320043"/>
            <a:ext cx="11509730" cy="4404825"/>
          </a:xfrm>
          <a:custGeom>
            <a:avLst/>
            <a:gdLst>
              <a:gd name="connsiteX0" fmla="*/ 299132 w 11509730"/>
              <a:gd name="connsiteY0" fmla="*/ 0 h 4404825"/>
              <a:gd name="connsiteX1" fmla="*/ 11210598 w 11509730"/>
              <a:gd name="connsiteY1" fmla="*/ 0 h 4404825"/>
              <a:gd name="connsiteX2" fmla="*/ 11509730 w 11509730"/>
              <a:gd name="connsiteY2" fmla="*/ 299132 h 4404825"/>
              <a:gd name="connsiteX3" fmla="*/ 11509730 w 11509730"/>
              <a:gd name="connsiteY3" fmla="*/ 4105693 h 4404825"/>
              <a:gd name="connsiteX4" fmla="*/ 11210598 w 11509730"/>
              <a:gd name="connsiteY4" fmla="*/ 4404825 h 4404825"/>
              <a:gd name="connsiteX5" fmla="*/ 299132 w 11509730"/>
              <a:gd name="connsiteY5" fmla="*/ 4404825 h 4404825"/>
              <a:gd name="connsiteX6" fmla="*/ 0 w 11509730"/>
              <a:gd name="connsiteY6" fmla="*/ 4105693 h 4404825"/>
              <a:gd name="connsiteX7" fmla="*/ 0 w 11509730"/>
              <a:gd name="connsiteY7" fmla="*/ 299132 h 4404825"/>
              <a:gd name="connsiteX8" fmla="*/ 299132 w 11509730"/>
              <a:gd name="connsiteY8" fmla="*/ 0 h 4404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509730" h="4404825">
                <a:moveTo>
                  <a:pt x="299132" y="0"/>
                </a:moveTo>
                <a:lnTo>
                  <a:pt x="11210598" y="0"/>
                </a:lnTo>
                <a:cubicBezTo>
                  <a:pt x="11375804" y="0"/>
                  <a:pt x="11509730" y="133926"/>
                  <a:pt x="11509730" y="299132"/>
                </a:cubicBezTo>
                <a:lnTo>
                  <a:pt x="11509730" y="4105693"/>
                </a:lnTo>
                <a:cubicBezTo>
                  <a:pt x="11509730" y="4270899"/>
                  <a:pt x="11375804" y="4404825"/>
                  <a:pt x="11210598" y="4404825"/>
                </a:cubicBezTo>
                <a:lnTo>
                  <a:pt x="299132" y="4404825"/>
                </a:lnTo>
                <a:cubicBezTo>
                  <a:pt x="133926" y="4404825"/>
                  <a:pt x="0" y="4270899"/>
                  <a:pt x="0" y="4105693"/>
                </a:cubicBezTo>
                <a:lnTo>
                  <a:pt x="0" y="299132"/>
                </a:lnTo>
                <a:cubicBezTo>
                  <a:pt x="0" y="133926"/>
                  <a:pt x="133926" y="0"/>
                  <a:pt x="299132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21C7E-4348-443E-B7C8-EE213DFF1CB1}" type="datetime1">
              <a:rPr lang="en-US" smtClean="0"/>
              <a:t>11/19/2025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51928" y="5111854"/>
            <a:ext cx="6400800" cy="138988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003219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4162318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BCE7E7D-ED4A-B625-6CB8-4D71682F63D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39373" y="320042"/>
            <a:ext cx="11509730" cy="3458229"/>
          </a:xfrm>
          <a:custGeom>
            <a:avLst/>
            <a:gdLst>
              <a:gd name="connsiteX0" fmla="*/ 351529 w 11509730"/>
              <a:gd name="connsiteY0" fmla="*/ 0 h 3458229"/>
              <a:gd name="connsiteX1" fmla="*/ 11158201 w 11509730"/>
              <a:gd name="connsiteY1" fmla="*/ 0 h 3458229"/>
              <a:gd name="connsiteX2" fmla="*/ 11509730 w 11509730"/>
              <a:gd name="connsiteY2" fmla="*/ 351529 h 3458229"/>
              <a:gd name="connsiteX3" fmla="*/ 11509730 w 11509730"/>
              <a:gd name="connsiteY3" fmla="*/ 3106700 h 3458229"/>
              <a:gd name="connsiteX4" fmla="*/ 11158201 w 11509730"/>
              <a:gd name="connsiteY4" fmla="*/ 3458229 h 3458229"/>
              <a:gd name="connsiteX5" fmla="*/ 351529 w 11509730"/>
              <a:gd name="connsiteY5" fmla="*/ 3458229 h 3458229"/>
              <a:gd name="connsiteX6" fmla="*/ 0 w 11509730"/>
              <a:gd name="connsiteY6" fmla="*/ 3106700 h 3458229"/>
              <a:gd name="connsiteX7" fmla="*/ 0 w 11509730"/>
              <a:gd name="connsiteY7" fmla="*/ 351529 h 3458229"/>
              <a:gd name="connsiteX8" fmla="*/ 351529 w 11509730"/>
              <a:gd name="connsiteY8" fmla="*/ 0 h 34582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509730" h="3458229">
                <a:moveTo>
                  <a:pt x="351529" y="0"/>
                </a:moveTo>
                <a:lnTo>
                  <a:pt x="11158201" y="0"/>
                </a:lnTo>
                <a:cubicBezTo>
                  <a:pt x="11352345" y="0"/>
                  <a:pt x="11509730" y="157385"/>
                  <a:pt x="11509730" y="351529"/>
                </a:cubicBezTo>
                <a:lnTo>
                  <a:pt x="11509730" y="3106700"/>
                </a:lnTo>
                <a:cubicBezTo>
                  <a:pt x="11509730" y="3300844"/>
                  <a:pt x="11352345" y="3458229"/>
                  <a:pt x="11158201" y="3458229"/>
                </a:cubicBezTo>
                <a:lnTo>
                  <a:pt x="351529" y="3458229"/>
                </a:lnTo>
                <a:cubicBezTo>
                  <a:pt x="157385" y="3458229"/>
                  <a:pt x="0" y="3300844"/>
                  <a:pt x="0" y="3106700"/>
                </a:cubicBezTo>
                <a:lnTo>
                  <a:pt x="0" y="351529"/>
                </a:lnTo>
                <a:cubicBezTo>
                  <a:pt x="0" y="157385"/>
                  <a:pt x="157385" y="0"/>
                  <a:pt x="351529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2BB8D-1BA0-4790-987D-651470CA8928}" type="datetime1">
              <a:rPr lang="en-US" smtClean="0"/>
              <a:t>11/19/2025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4162318"/>
            <a:ext cx="7772400" cy="224028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400"/>
            </a:lvl4pPr>
            <a:lvl5pPr marL="1085850" indent="-171450"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31185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61425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86A25225-80A2-7139-2A81-39CA926639F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39373" y="3067414"/>
            <a:ext cx="11509730" cy="3458229"/>
          </a:xfrm>
          <a:custGeom>
            <a:avLst/>
            <a:gdLst>
              <a:gd name="connsiteX0" fmla="*/ 351529 w 11509730"/>
              <a:gd name="connsiteY0" fmla="*/ 0 h 3458229"/>
              <a:gd name="connsiteX1" fmla="*/ 11158201 w 11509730"/>
              <a:gd name="connsiteY1" fmla="*/ 0 h 3458229"/>
              <a:gd name="connsiteX2" fmla="*/ 11509730 w 11509730"/>
              <a:gd name="connsiteY2" fmla="*/ 351529 h 3458229"/>
              <a:gd name="connsiteX3" fmla="*/ 11509730 w 11509730"/>
              <a:gd name="connsiteY3" fmla="*/ 3106700 h 3458229"/>
              <a:gd name="connsiteX4" fmla="*/ 11158201 w 11509730"/>
              <a:gd name="connsiteY4" fmla="*/ 3458229 h 3458229"/>
              <a:gd name="connsiteX5" fmla="*/ 351529 w 11509730"/>
              <a:gd name="connsiteY5" fmla="*/ 3458229 h 3458229"/>
              <a:gd name="connsiteX6" fmla="*/ 0 w 11509730"/>
              <a:gd name="connsiteY6" fmla="*/ 3106700 h 3458229"/>
              <a:gd name="connsiteX7" fmla="*/ 0 w 11509730"/>
              <a:gd name="connsiteY7" fmla="*/ 351529 h 3458229"/>
              <a:gd name="connsiteX8" fmla="*/ 351529 w 11509730"/>
              <a:gd name="connsiteY8" fmla="*/ 0 h 34582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509730" h="3458229">
                <a:moveTo>
                  <a:pt x="351529" y="0"/>
                </a:moveTo>
                <a:lnTo>
                  <a:pt x="11158201" y="0"/>
                </a:lnTo>
                <a:cubicBezTo>
                  <a:pt x="11352345" y="0"/>
                  <a:pt x="11509730" y="157385"/>
                  <a:pt x="11509730" y="351529"/>
                </a:cubicBezTo>
                <a:lnTo>
                  <a:pt x="11509730" y="3106700"/>
                </a:lnTo>
                <a:cubicBezTo>
                  <a:pt x="11509730" y="3300844"/>
                  <a:pt x="11352345" y="3458229"/>
                  <a:pt x="11158201" y="3458229"/>
                </a:cubicBezTo>
                <a:lnTo>
                  <a:pt x="351529" y="3458229"/>
                </a:lnTo>
                <a:cubicBezTo>
                  <a:pt x="157385" y="3458229"/>
                  <a:pt x="0" y="3300844"/>
                  <a:pt x="0" y="3106700"/>
                </a:cubicBezTo>
                <a:lnTo>
                  <a:pt x="0" y="351529"/>
                </a:lnTo>
                <a:cubicBezTo>
                  <a:pt x="0" y="157385"/>
                  <a:pt x="157385" y="0"/>
                  <a:pt x="351529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519672"/>
            <a:ext cx="3494314" cy="338328"/>
          </a:xfrm>
        </p:spPr>
        <p:txBody>
          <a:bodyPr/>
          <a:lstStyle/>
          <a:p>
            <a:fld id="{48CD4B21-9C97-4358-8E22-9F49A31BDF6B}" type="datetime1">
              <a:rPr lang="en-US" smtClean="0"/>
              <a:t>11/19/2025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561425"/>
            <a:ext cx="7772400" cy="224028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400"/>
            </a:lvl4pPr>
            <a:lvl5pPr marL="1085850" indent="-171450"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6519672"/>
            <a:ext cx="2805405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6519672"/>
            <a:ext cx="429207" cy="338328"/>
          </a:xfrm>
        </p:spPr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245306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03504"/>
            <a:ext cx="11155680" cy="970463"/>
          </a:xfrm>
        </p:spPr>
        <p:txBody>
          <a:bodyPr anchor="ctr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45F6FDB5-F783-3538-287C-754C11C3097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29768" y="1828800"/>
            <a:ext cx="6176399" cy="4425696"/>
          </a:xfrm>
          <a:custGeom>
            <a:avLst/>
            <a:gdLst>
              <a:gd name="connsiteX0" fmla="*/ 325421 w 6450717"/>
              <a:gd name="connsiteY0" fmla="*/ 0 h 4425696"/>
              <a:gd name="connsiteX1" fmla="*/ 6125296 w 6450717"/>
              <a:gd name="connsiteY1" fmla="*/ 0 h 4425696"/>
              <a:gd name="connsiteX2" fmla="*/ 6450717 w 6450717"/>
              <a:gd name="connsiteY2" fmla="*/ 325421 h 4425696"/>
              <a:gd name="connsiteX3" fmla="*/ 6450717 w 6450717"/>
              <a:gd name="connsiteY3" fmla="*/ 4100275 h 4425696"/>
              <a:gd name="connsiteX4" fmla="*/ 6125296 w 6450717"/>
              <a:gd name="connsiteY4" fmla="*/ 4425696 h 4425696"/>
              <a:gd name="connsiteX5" fmla="*/ 325421 w 6450717"/>
              <a:gd name="connsiteY5" fmla="*/ 4425696 h 4425696"/>
              <a:gd name="connsiteX6" fmla="*/ 0 w 6450717"/>
              <a:gd name="connsiteY6" fmla="*/ 4100275 h 4425696"/>
              <a:gd name="connsiteX7" fmla="*/ 0 w 6450717"/>
              <a:gd name="connsiteY7" fmla="*/ 325421 h 4425696"/>
              <a:gd name="connsiteX8" fmla="*/ 325421 w 6450717"/>
              <a:gd name="connsiteY8" fmla="*/ 0 h 4425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450717" h="4425696">
                <a:moveTo>
                  <a:pt x="325421" y="0"/>
                </a:moveTo>
                <a:lnTo>
                  <a:pt x="6125296" y="0"/>
                </a:lnTo>
                <a:cubicBezTo>
                  <a:pt x="6305021" y="0"/>
                  <a:pt x="6450717" y="145696"/>
                  <a:pt x="6450717" y="325421"/>
                </a:cubicBezTo>
                <a:lnTo>
                  <a:pt x="6450717" y="4100275"/>
                </a:lnTo>
                <a:cubicBezTo>
                  <a:pt x="6450717" y="4280000"/>
                  <a:pt x="6305021" y="4425696"/>
                  <a:pt x="6125296" y="4425696"/>
                </a:cubicBezTo>
                <a:lnTo>
                  <a:pt x="325421" y="4425696"/>
                </a:lnTo>
                <a:cubicBezTo>
                  <a:pt x="145696" y="4425696"/>
                  <a:pt x="0" y="4280000"/>
                  <a:pt x="0" y="4100275"/>
                </a:cubicBezTo>
                <a:lnTo>
                  <a:pt x="0" y="325421"/>
                </a:lnTo>
                <a:cubicBezTo>
                  <a:pt x="0" y="145696"/>
                  <a:pt x="145696" y="0"/>
                  <a:pt x="325421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287768" y="1828800"/>
            <a:ext cx="4297680" cy="442887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8FABC-5F70-4DE9-8A42-1DE3D93319BF}" type="datetime1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59450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48639"/>
            <a:ext cx="4855464" cy="1453896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F5F2F272-6D18-7E06-3E9A-D10C5C50219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10075" y="2293496"/>
            <a:ext cx="4775158" cy="4039043"/>
          </a:xfrm>
          <a:custGeom>
            <a:avLst/>
            <a:gdLst>
              <a:gd name="connsiteX0" fmla="*/ 305917 w 4855463"/>
              <a:gd name="connsiteY0" fmla="*/ 0 h 4039043"/>
              <a:gd name="connsiteX1" fmla="*/ 4549547 w 4855463"/>
              <a:gd name="connsiteY1" fmla="*/ 0 h 4039043"/>
              <a:gd name="connsiteX2" fmla="*/ 4849249 w 4855463"/>
              <a:gd name="connsiteY2" fmla="*/ 244264 h 4039043"/>
              <a:gd name="connsiteX3" fmla="*/ 4855463 w 4855463"/>
              <a:gd name="connsiteY3" fmla="*/ 305907 h 4039043"/>
              <a:gd name="connsiteX4" fmla="*/ 4855463 w 4855463"/>
              <a:gd name="connsiteY4" fmla="*/ 3733136 h 4039043"/>
              <a:gd name="connsiteX5" fmla="*/ 4849249 w 4855463"/>
              <a:gd name="connsiteY5" fmla="*/ 3794779 h 4039043"/>
              <a:gd name="connsiteX6" fmla="*/ 4549547 w 4855463"/>
              <a:gd name="connsiteY6" fmla="*/ 4039043 h 4039043"/>
              <a:gd name="connsiteX7" fmla="*/ 305917 w 4855463"/>
              <a:gd name="connsiteY7" fmla="*/ 4039043 h 4039043"/>
              <a:gd name="connsiteX8" fmla="*/ 0 w 4855463"/>
              <a:gd name="connsiteY8" fmla="*/ 3733126 h 4039043"/>
              <a:gd name="connsiteX9" fmla="*/ 0 w 4855463"/>
              <a:gd name="connsiteY9" fmla="*/ 305917 h 4039043"/>
              <a:gd name="connsiteX10" fmla="*/ 305917 w 4855463"/>
              <a:gd name="connsiteY10" fmla="*/ 0 h 40390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855463" h="4039043">
                <a:moveTo>
                  <a:pt x="305917" y="0"/>
                </a:moveTo>
                <a:lnTo>
                  <a:pt x="4549547" y="0"/>
                </a:lnTo>
                <a:cubicBezTo>
                  <a:pt x="4697381" y="0"/>
                  <a:pt x="4820723" y="104863"/>
                  <a:pt x="4849249" y="244264"/>
                </a:cubicBezTo>
                <a:lnTo>
                  <a:pt x="4855463" y="305907"/>
                </a:lnTo>
                <a:lnTo>
                  <a:pt x="4855463" y="3733136"/>
                </a:lnTo>
                <a:lnTo>
                  <a:pt x="4849249" y="3794779"/>
                </a:lnTo>
                <a:cubicBezTo>
                  <a:pt x="4820723" y="3934180"/>
                  <a:pt x="4697381" y="4039043"/>
                  <a:pt x="4549547" y="4039043"/>
                </a:cubicBezTo>
                <a:lnTo>
                  <a:pt x="305917" y="4039043"/>
                </a:lnTo>
                <a:cubicBezTo>
                  <a:pt x="136964" y="4039043"/>
                  <a:pt x="0" y="3902079"/>
                  <a:pt x="0" y="3733126"/>
                </a:cubicBezTo>
                <a:lnTo>
                  <a:pt x="0" y="305917"/>
                </a:lnTo>
                <a:cubicBezTo>
                  <a:pt x="0" y="136964"/>
                  <a:pt x="136964" y="0"/>
                  <a:pt x="305917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549275"/>
            <a:ext cx="5585925" cy="578326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32AAB-0859-49C5-9F81-D3744B520913}" type="datetime1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75357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50218"/>
            <a:ext cx="3827439" cy="1453896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14639E5C-EF58-65A1-C364-F58DE761581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10075" y="2293494"/>
            <a:ext cx="3666744" cy="4039044"/>
          </a:xfrm>
          <a:custGeom>
            <a:avLst/>
            <a:gdLst>
              <a:gd name="connsiteX0" fmla="*/ 292716 w 3666744"/>
              <a:gd name="connsiteY0" fmla="*/ 0 h 4039044"/>
              <a:gd name="connsiteX1" fmla="*/ 3374028 w 3666744"/>
              <a:gd name="connsiteY1" fmla="*/ 0 h 4039044"/>
              <a:gd name="connsiteX2" fmla="*/ 3666744 w 3666744"/>
              <a:gd name="connsiteY2" fmla="*/ 292716 h 4039044"/>
              <a:gd name="connsiteX3" fmla="*/ 3666744 w 3666744"/>
              <a:gd name="connsiteY3" fmla="*/ 3746328 h 4039044"/>
              <a:gd name="connsiteX4" fmla="*/ 3374028 w 3666744"/>
              <a:gd name="connsiteY4" fmla="*/ 4039044 h 4039044"/>
              <a:gd name="connsiteX5" fmla="*/ 292716 w 3666744"/>
              <a:gd name="connsiteY5" fmla="*/ 4039044 h 4039044"/>
              <a:gd name="connsiteX6" fmla="*/ 0 w 3666744"/>
              <a:gd name="connsiteY6" fmla="*/ 3746328 h 4039044"/>
              <a:gd name="connsiteX7" fmla="*/ 0 w 3666744"/>
              <a:gd name="connsiteY7" fmla="*/ 292716 h 4039044"/>
              <a:gd name="connsiteX8" fmla="*/ 292716 w 3666744"/>
              <a:gd name="connsiteY8" fmla="*/ 0 h 40390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666744" h="4039044">
                <a:moveTo>
                  <a:pt x="292716" y="0"/>
                </a:moveTo>
                <a:lnTo>
                  <a:pt x="3374028" y="0"/>
                </a:lnTo>
                <a:cubicBezTo>
                  <a:pt x="3535691" y="0"/>
                  <a:pt x="3666744" y="131053"/>
                  <a:pt x="3666744" y="292716"/>
                </a:cubicBezTo>
                <a:lnTo>
                  <a:pt x="3666744" y="3746328"/>
                </a:lnTo>
                <a:cubicBezTo>
                  <a:pt x="3666744" y="3907991"/>
                  <a:pt x="3535691" y="4039044"/>
                  <a:pt x="3374028" y="4039044"/>
                </a:cubicBezTo>
                <a:lnTo>
                  <a:pt x="292716" y="4039044"/>
                </a:lnTo>
                <a:cubicBezTo>
                  <a:pt x="131053" y="4039044"/>
                  <a:pt x="0" y="3907991"/>
                  <a:pt x="0" y="3746328"/>
                </a:cubicBezTo>
                <a:lnTo>
                  <a:pt x="0" y="292716"/>
                </a:lnTo>
                <a:cubicBezTo>
                  <a:pt x="0" y="131053"/>
                  <a:pt x="131053" y="0"/>
                  <a:pt x="29271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20787" y="549275"/>
            <a:ext cx="6561138" cy="578815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C0E27-EFA9-4706-B7B3-384BAC09CA5C}" type="datetime1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389274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242A1-A384-8CB1-904B-45EEDF23C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776" y="4992624"/>
            <a:ext cx="11201400" cy="1225296"/>
          </a:xfrm>
        </p:spPr>
        <p:txBody>
          <a:bodyPr anchor="t">
            <a:normAutofit/>
          </a:bodyPr>
          <a:lstStyle>
            <a:lvl1pPr algn="ctr">
              <a:lnSpc>
                <a:spcPct val="120000"/>
              </a:lnSpc>
              <a:defRPr sz="2400">
                <a:solidFill>
                  <a:schemeClr val="tx2">
                    <a:lumMod val="90000"/>
                    <a:lumOff val="10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38527-6BF7-45BD-8E9C-2BDCA53716A3}" type="datetime1">
              <a:rPr lang="en-US" smtClean="0"/>
              <a:t>11/19/2025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6F59BDE-94E7-56D6-3D7F-6145311BA2D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93776" y="786384"/>
            <a:ext cx="11201400" cy="4206240"/>
          </a:xfrm>
        </p:spPr>
        <p:txBody>
          <a:bodyPr anchor="b">
            <a:normAutofit/>
          </a:bodyPr>
          <a:lstStyle>
            <a:lvl1pPr marL="0" indent="0" algn="ctr">
              <a:buNone/>
              <a:defRPr sz="27800">
                <a:solidFill>
                  <a:schemeClr val="tx2">
                    <a:lumMod val="90000"/>
                    <a:lumOff val="10000"/>
                  </a:schemeClr>
                </a:soli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26722765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242A1-A384-8CB1-904B-45EEDF23C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776" y="4992624"/>
            <a:ext cx="11201400" cy="1225296"/>
          </a:xfrm>
        </p:spPr>
        <p:txBody>
          <a:bodyPr anchor="t">
            <a:normAutofit/>
          </a:bodyPr>
          <a:lstStyle>
            <a:lvl1pPr algn="ctr">
              <a:lnSpc>
                <a:spcPct val="120000"/>
              </a:lnSpc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2D2C4-0829-4B37-AFA9-97EED5EA275A}" type="datetime1">
              <a:rPr lang="en-US" smtClean="0"/>
              <a:t>11/19/2025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6F59BDE-94E7-56D6-3D7F-6145311BA2D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93776" y="786384"/>
            <a:ext cx="11201400" cy="4206240"/>
          </a:xfrm>
        </p:spPr>
        <p:txBody>
          <a:bodyPr anchor="b">
            <a:normAutofit/>
          </a:bodyPr>
          <a:lstStyle>
            <a:lvl1pPr marL="0" indent="0" algn="ctr">
              <a:buNone/>
              <a:defRPr sz="27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6408065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242A1-A384-8CB1-904B-45EEDF23C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809744"/>
            <a:ext cx="5897880" cy="135331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120000"/>
              </a:lnSpc>
              <a:defRPr lang="en-US" sz="2800" dirty="0">
                <a:solidFill>
                  <a:schemeClr val="tx2">
                    <a:lumMod val="90000"/>
                    <a:lumOff val="10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3353C-D70D-4D92-85A4-BE6E7FCC2830}" type="datetime1">
              <a:rPr lang="en-US" smtClean="0"/>
              <a:t>11/19/2025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6F59BDE-94E7-56D6-3D7F-6145311BA2D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9768" y="603504"/>
            <a:ext cx="11201400" cy="4206240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lang="en-US" sz="27800" dirty="0">
                <a:solidFill>
                  <a:schemeClr val="tx2">
                    <a:lumMod val="90000"/>
                    <a:lumOff val="10000"/>
                  </a:schemeClr>
                </a:soli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211441617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622C3-A8C0-4CE4-AFAA-25D23CB3242F}" type="datetime1">
              <a:rPr lang="en-US" smtClean="0"/>
              <a:t>11/19/2025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630936"/>
            <a:ext cx="8266176" cy="5605272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5400" b="1"/>
            </a:lvl1pPr>
            <a:lvl2pPr marL="228600" indent="0">
              <a:lnSpc>
                <a:spcPct val="100000"/>
              </a:lnSpc>
              <a:buNone/>
              <a:defRPr sz="4800" b="1"/>
            </a:lvl2pPr>
            <a:lvl3pPr marL="457200" indent="0">
              <a:lnSpc>
                <a:spcPct val="100000"/>
              </a:lnSpc>
              <a:buNone/>
              <a:defRPr sz="4400" b="1"/>
            </a:lvl3pPr>
            <a:lvl4pPr marL="685800" indent="0">
              <a:lnSpc>
                <a:spcPct val="100000"/>
              </a:lnSpc>
              <a:buNone/>
              <a:defRPr sz="4000" b="1"/>
            </a:lvl4pPr>
            <a:lvl5pPr marL="914400" indent="0">
              <a:lnSpc>
                <a:spcPct val="100000"/>
              </a:lnSpc>
              <a:buNone/>
              <a:defRPr sz="3600" b="1"/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5350596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B6EAC-4E38-4BC4-964B-55A6571A4EBF}" type="datetime1">
              <a:rPr lang="en-US" smtClean="0"/>
              <a:t>11/19/2025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1929384"/>
            <a:ext cx="8266176" cy="414223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5000" b="1"/>
            </a:lvl1pPr>
            <a:lvl2pPr marL="228600" indent="0">
              <a:lnSpc>
                <a:spcPct val="100000"/>
              </a:lnSpc>
              <a:buNone/>
              <a:defRPr sz="4400" b="1"/>
            </a:lvl2pPr>
            <a:lvl3pPr marL="457200" indent="0">
              <a:lnSpc>
                <a:spcPct val="100000"/>
              </a:lnSpc>
              <a:buNone/>
              <a:defRPr sz="4000" b="1"/>
            </a:lvl3pPr>
            <a:lvl4pPr marL="685800" indent="0">
              <a:lnSpc>
                <a:spcPct val="100000"/>
              </a:lnSpc>
              <a:buNone/>
              <a:defRPr sz="3600" b="1"/>
            </a:lvl4pPr>
            <a:lvl5pPr marL="914400" indent="0">
              <a:lnSpc>
                <a:spcPct val="100000"/>
              </a:lnSpc>
              <a:buNone/>
              <a:defRPr sz="32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4680487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2DDD8-66B1-484C-ABC1-3F6C2E131531}" type="datetime1">
              <a:rPr lang="en-US" smtClean="0"/>
              <a:t>11/19/2025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548640"/>
            <a:ext cx="8266176" cy="5605272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5000" b="1"/>
            </a:lvl1pPr>
            <a:lvl2pPr marL="228600" indent="0">
              <a:lnSpc>
                <a:spcPct val="100000"/>
              </a:lnSpc>
              <a:buNone/>
              <a:defRPr sz="4400" b="1"/>
            </a:lvl2pPr>
            <a:lvl3pPr marL="457200" indent="0">
              <a:lnSpc>
                <a:spcPct val="100000"/>
              </a:lnSpc>
              <a:buNone/>
              <a:defRPr sz="4000" b="1"/>
            </a:lvl3pPr>
            <a:lvl4pPr marL="685800" indent="0">
              <a:lnSpc>
                <a:spcPct val="100000"/>
              </a:lnSpc>
              <a:buNone/>
              <a:defRPr sz="3600" b="1"/>
            </a:lvl4pPr>
            <a:lvl5pPr marL="914400" indent="0">
              <a:lnSpc>
                <a:spcPct val="100000"/>
              </a:lnSpc>
              <a:buNone/>
              <a:defRPr sz="3200" b="1"/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1429919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36776" y="5276088"/>
            <a:ext cx="9061704" cy="466344"/>
          </a:xfrm>
        </p:spPr>
        <p:txBody>
          <a:bodyPr anchor="t">
            <a:normAutofit/>
          </a:bodyPr>
          <a:lstStyle>
            <a:lvl1pPr>
              <a:lnSpc>
                <a:spcPct val="120000"/>
              </a:lnSpc>
              <a:defRPr sz="2200" b="1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1828800"/>
            <a:ext cx="9198864" cy="2871216"/>
          </a:xfrm>
        </p:spPr>
        <p:txBody>
          <a:bodyPr anchor="ctr">
            <a:normAutofit/>
          </a:bodyPr>
          <a:lstStyle>
            <a:lvl1pPr marL="137160" indent="-13716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4000"/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CBEC5-37D0-4E5C-8671-D7D2A06BE21B}" type="datetime1">
              <a:rPr lang="en-US" smtClean="0"/>
              <a:t>11/19/2025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762383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351F96B-ED98-BF55-D2B0-047000EF48E1}"/>
              </a:ext>
            </a:extLst>
          </p:cNvPr>
          <p:cNvSpPr/>
          <p:nvPr/>
        </p:nvSpPr>
        <p:spPr>
          <a:xfrm>
            <a:off x="806386" y="760151"/>
            <a:ext cx="10579222" cy="5337698"/>
          </a:xfrm>
          <a:prstGeom prst="roundRect">
            <a:avLst>
              <a:gd name="adj" fmla="val 6093"/>
            </a:avLst>
          </a:pr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01368" y="5120640"/>
            <a:ext cx="8549640" cy="621792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655064" y="2093976"/>
            <a:ext cx="8695944" cy="2130552"/>
          </a:xfrm>
        </p:spPr>
        <p:txBody>
          <a:bodyPr anchor="ctr">
            <a:normAutofit/>
          </a:bodyPr>
          <a:lstStyle>
            <a:lvl1pPr marL="137160" indent="-13716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3600"/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6FC37-12B5-4EB9-BB05-B5E210E93FF0}" type="datetime1">
              <a:rPr lang="en-US" smtClean="0"/>
              <a:t>11/19/2025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704152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8556" y="4965192"/>
            <a:ext cx="9450699" cy="1289304"/>
          </a:xfrm>
        </p:spPr>
        <p:txBody>
          <a:bodyPr anchor="b">
            <a:normAutofit/>
          </a:bodyPr>
          <a:lstStyle>
            <a:lvl1pPr>
              <a:lnSpc>
                <a:spcPct val="120000"/>
              </a:lnSpc>
              <a:defRPr sz="18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9768" y="438912"/>
            <a:ext cx="9619488" cy="452628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4800"/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0F6F3-6829-4CDD-B3A1-8F321E27194A}" type="datetime1">
              <a:rPr lang="en-US" smtClean="0"/>
              <a:t>11/19/2025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87186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4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8556" y="4965192"/>
            <a:ext cx="9148947" cy="1289304"/>
          </a:xfrm>
        </p:spPr>
        <p:txBody>
          <a:bodyPr anchor="b">
            <a:normAutofit/>
          </a:bodyPr>
          <a:lstStyle>
            <a:lvl1pPr>
              <a:lnSpc>
                <a:spcPct val="120000"/>
              </a:lnSpc>
              <a:defRPr sz="18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9768" y="1179576"/>
            <a:ext cx="9317736" cy="3785616"/>
          </a:xfrm>
        </p:spPr>
        <p:txBody>
          <a:bodyPr anchor="b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4800"/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6652C-AA1E-4738-883B-0336FAAA5DB1}" type="datetime1">
              <a:rPr lang="en-US" smtClean="0"/>
              <a:t>11/19/2025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80724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7" y="294248"/>
            <a:ext cx="11164825" cy="95848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A7BFCD9-16A4-5745-7BB3-7836095FF16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0213" y="2020825"/>
            <a:ext cx="5211762" cy="43434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30EDC57-7D17-D4C8-5C60-A44A480EA99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81750" y="2020824"/>
            <a:ext cx="5213350" cy="43434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F56A5-925A-45AB-8491-C696F304662B}" type="datetime1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011951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276166"/>
            <a:ext cx="11164824" cy="97656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767" y="1380744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B5BB1DC-4DAA-D220-25A9-5752C158FDD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0213" y="2020888"/>
            <a:ext cx="5211762" cy="43434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82512" y="1380744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BAB67A04-5E8D-18C5-D47A-A5B5CFE568A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81750" y="2020888"/>
            <a:ext cx="5213350" cy="43434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82B41-9B9A-4653-8E8E-9D57A4983847}" type="datetime1">
              <a:rPr lang="en-US" smtClean="0"/>
              <a:t>11/19/2025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77989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C80A14-C874-4C11-943E-4B7AAF73B997}" type="datetime1">
              <a:rPr lang="en-US" smtClean="0"/>
              <a:t>11/19/2025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856077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60914-BFFA-4E5B-B382-06A92C8508A8}" type="datetime1">
              <a:rPr lang="en-US" smtClean="0"/>
              <a:t>11/19/2025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2650591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53615"/>
            <a:ext cx="3595634" cy="221284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29769" y="2823029"/>
            <a:ext cx="3309608" cy="3481355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6995" y="553616"/>
            <a:ext cx="6466741" cy="5752566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EE75D-2E4A-469A-9092-8B43711F5315}" type="datetime1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8205172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57784"/>
            <a:ext cx="3593592" cy="2212313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29767" y="2826137"/>
            <a:ext cx="3310128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ADACA751-BBB2-3E33-EA6C-54B4A7F6842B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4502843" y="342901"/>
            <a:ext cx="7346258" cy="6172198"/>
          </a:xfrm>
          <a:custGeom>
            <a:avLst/>
            <a:gdLst>
              <a:gd name="connsiteX0" fmla="*/ 264355 w 6785782"/>
              <a:gd name="connsiteY0" fmla="*/ 0 h 6172198"/>
              <a:gd name="connsiteX1" fmla="*/ 6521427 w 6785782"/>
              <a:gd name="connsiteY1" fmla="*/ 0 h 6172198"/>
              <a:gd name="connsiteX2" fmla="*/ 6785782 w 6785782"/>
              <a:gd name="connsiteY2" fmla="*/ 264355 h 6172198"/>
              <a:gd name="connsiteX3" fmla="*/ 6785782 w 6785782"/>
              <a:gd name="connsiteY3" fmla="*/ 5907843 h 6172198"/>
              <a:gd name="connsiteX4" fmla="*/ 6521427 w 6785782"/>
              <a:gd name="connsiteY4" fmla="*/ 6172198 h 6172198"/>
              <a:gd name="connsiteX5" fmla="*/ 264355 w 6785782"/>
              <a:gd name="connsiteY5" fmla="*/ 6172198 h 6172198"/>
              <a:gd name="connsiteX6" fmla="*/ 0 w 6785782"/>
              <a:gd name="connsiteY6" fmla="*/ 5907843 h 6172198"/>
              <a:gd name="connsiteX7" fmla="*/ 0 w 6785782"/>
              <a:gd name="connsiteY7" fmla="*/ 264355 h 6172198"/>
              <a:gd name="connsiteX8" fmla="*/ 264355 w 6785782"/>
              <a:gd name="connsiteY8" fmla="*/ 0 h 61721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785782" h="6172198">
                <a:moveTo>
                  <a:pt x="264355" y="0"/>
                </a:moveTo>
                <a:lnTo>
                  <a:pt x="6521427" y="0"/>
                </a:lnTo>
                <a:cubicBezTo>
                  <a:pt x="6667426" y="0"/>
                  <a:pt x="6785782" y="118356"/>
                  <a:pt x="6785782" y="264355"/>
                </a:cubicBezTo>
                <a:lnTo>
                  <a:pt x="6785782" y="5907843"/>
                </a:lnTo>
                <a:cubicBezTo>
                  <a:pt x="6785782" y="6053842"/>
                  <a:pt x="6667426" y="6172198"/>
                  <a:pt x="6521427" y="6172198"/>
                </a:cubicBezTo>
                <a:lnTo>
                  <a:pt x="264355" y="6172198"/>
                </a:lnTo>
                <a:cubicBezTo>
                  <a:pt x="118356" y="6172198"/>
                  <a:pt x="0" y="6053842"/>
                  <a:pt x="0" y="5907843"/>
                </a:cubicBezTo>
                <a:lnTo>
                  <a:pt x="0" y="264355"/>
                </a:lnTo>
                <a:cubicBezTo>
                  <a:pt x="0" y="118356"/>
                  <a:pt x="118356" y="0"/>
                  <a:pt x="26435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6FD38-01FF-4539-8A35-AB19E4D5C3A7}" type="datetime1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5231069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29768"/>
            <a:ext cx="10890374" cy="1627632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29768" y="3264408"/>
            <a:ext cx="10890374" cy="2834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C5BFC-EF85-4C2B-8809-2F9E7D76A143}" type="datetime1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43841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1627318"/>
            <a:ext cx="7370064" cy="1842020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3622673"/>
            <a:ext cx="7370064" cy="2231136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8805FF-0F6F-4DB7-B5D6-9BF14E40F716}" type="datetime1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37521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380B3-E270-4064-8D13-292A875F6C31}" type="datetime1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5406507"/>
      </p:ext>
    </p:extLst>
  </p:cSld>
  <p:clrMapOvr>
    <a:masterClrMapping/>
  </p:clrMapOvr>
  <p:hf sldNum="0" hdr="0" ftr="0" dt="0"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380B3-E270-4064-8D13-292A875F6C31}" type="datetime1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0483600"/>
      </p:ext>
    </p:extLst>
  </p:cSld>
  <p:clrMapOvr>
    <a:masterClrMapping/>
  </p:clrMapOvr>
  <p:hf sldNum="0" hdr="0" ftr="0" dt="0"/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380B3-E270-4064-8D13-292A875F6C31}" type="datetime1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6808958"/>
      </p:ext>
    </p:extLst>
  </p:cSld>
  <p:clrMapOvr>
    <a:masterClrMapping/>
  </p:clrMapOvr>
  <p:hf sldNum="0" hdr="0" ftr="0" dt="0"/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845734"/>
            <a:ext cx="493776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380B3-E270-4064-8D13-292A875F6C31}" type="datetime1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800109"/>
      </p:ext>
    </p:extLst>
  </p:cSld>
  <p:clrMapOvr>
    <a:masterClrMapping/>
  </p:clrMapOvr>
  <p:hf sldNum="0" hdr="0" ftr="0" dt="0"/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380B3-E270-4064-8D13-292A875F6C31}" type="datetime1">
              <a:rPr lang="en-US" smtClean="0"/>
              <a:t>11/19/2025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4985429"/>
      </p:ext>
    </p:extLst>
  </p:cSld>
  <p:clrMapOvr>
    <a:masterClrMapping/>
  </p:clrMapOvr>
  <p:hf sldNum="0" hdr="0" ftr="0" dt="0"/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C80A14-C874-4C11-943E-4B7AAF73B997}" type="datetime1">
              <a:rPr lang="en-US" smtClean="0"/>
              <a:t>11/19/2025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4355297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60914-BFFA-4E5B-B382-06A92C8508A8}" type="datetime1">
              <a:rPr lang="en-US" smtClean="0"/>
              <a:t>11/19/2025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505604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E6DEE75D-2E4A-469A-9092-8B43711F5315}" type="datetime1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898407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6FD38-01FF-4539-8A35-AB19E4D5C3A7}" type="datetime1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849205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380B3-E270-4064-8D13-292A875F6C31}" type="datetime1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555254"/>
      </p:ext>
    </p:extLst>
  </p:cSld>
  <p:clrMapOvr>
    <a:masterClrMapping/>
  </p:clrMapOvr>
  <p:hf sldNum="0" hdr="0" ftr="0" dt="0"/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380B3-E270-4064-8D13-292A875F6C31}" type="datetime1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2469525"/>
      </p:ext>
    </p:extLst>
  </p:cSld>
  <p:clrMapOvr>
    <a:masterClrMapping/>
  </p:clrMapOvr>
  <p:hf sldNum="0" hdr="0" ftr="0" dt="0"/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, Content Photo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2" y="5111854"/>
            <a:ext cx="3739279" cy="138988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9" name="Picture Placeholder 17">
            <a:extLst>
              <a:ext uri="{FF2B5EF4-FFF2-40B4-BE49-F238E27FC236}">
                <a16:creationId xmlns:a16="http://schemas.microsoft.com/office/drawing/2014/main" id="{D5837EDE-723C-6CF6-EB95-3AEDA1F07E9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39373" y="320043"/>
            <a:ext cx="11509730" cy="4404825"/>
          </a:xfrm>
          <a:custGeom>
            <a:avLst/>
            <a:gdLst>
              <a:gd name="connsiteX0" fmla="*/ 299132 w 11509730"/>
              <a:gd name="connsiteY0" fmla="*/ 0 h 4404825"/>
              <a:gd name="connsiteX1" fmla="*/ 11210598 w 11509730"/>
              <a:gd name="connsiteY1" fmla="*/ 0 h 4404825"/>
              <a:gd name="connsiteX2" fmla="*/ 11509730 w 11509730"/>
              <a:gd name="connsiteY2" fmla="*/ 299132 h 4404825"/>
              <a:gd name="connsiteX3" fmla="*/ 11509730 w 11509730"/>
              <a:gd name="connsiteY3" fmla="*/ 4105693 h 4404825"/>
              <a:gd name="connsiteX4" fmla="*/ 11210598 w 11509730"/>
              <a:gd name="connsiteY4" fmla="*/ 4404825 h 4404825"/>
              <a:gd name="connsiteX5" fmla="*/ 299132 w 11509730"/>
              <a:gd name="connsiteY5" fmla="*/ 4404825 h 4404825"/>
              <a:gd name="connsiteX6" fmla="*/ 0 w 11509730"/>
              <a:gd name="connsiteY6" fmla="*/ 4105693 h 4404825"/>
              <a:gd name="connsiteX7" fmla="*/ 0 w 11509730"/>
              <a:gd name="connsiteY7" fmla="*/ 299132 h 4404825"/>
              <a:gd name="connsiteX8" fmla="*/ 299132 w 11509730"/>
              <a:gd name="connsiteY8" fmla="*/ 0 h 4404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509730" h="4404825">
                <a:moveTo>
                  <a:pt x="299132" y="0"/>
                </a:moveTo>
                <a:lnTo>
                  <a:pt x="11210598" y="0"/>
                </a:lnTo>
                <a:cubicBezTo>
                  <a:pt x="11375804" y="0"/>
                  <a:pt x="11509730" y="133926"/>
                  <a:pt x="11509730" y="299132"/>
                </a:cubicBezTo>
                <a:lnTo>
                  <a:pt x="11509730" y="4105693"/>
                </a:lnTo>
                <a:cubicBezTo>
                  <a:pt x="11509730" y="4270899"/>
                  <a:pt x="11375804" y="4404825"/>
                  <a:pt x="11210598" y="4404825"/>
                </a:cubicBezTo>
                <a:lnTo>
                  <a:pt x="299132" y="4404825"/>
                </a:lnTo>
                <a:cubicBezTo>
                  <a:pt x="133926" y="4404825"/>
                  <a:pt x="0" y="4270899"/>
                  <a:pt x="0" y="4105693"/>
                </a:cubicBezTo>
                <a:lnTo>
                  <a:pt x="0" y="299132"/>
                </a:lnTo>
                <a:cubicBezTo>
                  <a:pt x="0" y="133926"/>
                  <a:pt x="133926" y="0"/>
                  <a:pt x="299132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21C7E-4348-443E-B7C8-EE213DFF1CB1}" type="datetime1">
              <a:rPr lang="en-US" smtClean="0"/>
              <a:t>11/19/2025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51928" y="5111854"/>
            <a:ext cx="6400800" cy="138988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90030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54.xml"/><Relationship Id="rId7" Type="http://schemas.openxmlformats.org/officeDocument/2006/relationships/slideLayout" Target="../slideLayouts/slideLayout58.xml"/><Relationship Id="rId12" Type="http://schemas.openxmlformats.org/officeDocument/2006/relationships/slideLayout" Target="../slideLayouts/slideLayout63.xml"/><Relationship Id="rId2" Type="http://schemas.openxmlformats.org/officeDocument/2006/relationships/slideLayout" Target="../slideLayouts/slideLayout53.xml"/><Relationship Id="rId1" Type="http://schemas.openxmlformats.org/officeDocument/2006/relationships/slideLayout" Target="../slideLayouts/slideLayout52.xml"/><Relationship Id="rId6" Type="http://schemas.openxmlformats.org/officeDocument/2006/relationships/slideLayout" Target="../slideLayouts/slideLayout57.xml"/><Relationship Id="rId11" Type="http://schemas.openxmlformats.org/officeDocument/2006/relationships/slideLayout" Target="../slideLayouts/slideLayout62.xml"/><Relationship Id="rId5" Type="http://schemas.openxmlformats.org/officeDocument/2006/relationships/slideLayout" Target="../slideLayouts/slideLayout56.xml"/><Relationship Id="rId10" Type="http://schemas.openxmlformats.org/officeDocument/2006/relationships/slideLayout" Target="../slideLayouts/slideLayout61.xml"/><Relationship Id="rId4" Type="http://schemas.openxmlformats.org/officeDocument/2006/relationships/slideLayout" Target="../slideLayouts/slideLayout55.xml"/><Relationship Id="rId9" Type="http://schemas.openxmlformats.org/officeDocument/2006/relationships/slideLayout" Target="../slideLayouts/slideLayout6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283464"/>
            <a:ext cx="10652760" cy="96926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768" y="1380744"/>
            <a:ext cx="10652760" cy="49011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29768" y="6519672"/>
            <a:ext cx="2843784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fld id="{E9D380B3-E270-4064-8D13-292A875F6C31}" type="datetime1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60536" y="6519672"/>
            <a:ext cx="2642616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75720" y="6519672"/>
            <a:ext cx="457200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71750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5" r:id="rId15"/>
    <p:sldLayoutId id="2147483666" r:id="rId16"/>
    <p:sldLayoutId id="2147483667" r:id="rId17"/>
    <p:sldLayoutId id="2147483668" r:id="rId18"/>
    <p:sldLayoutId id="2147483669" r:id="rId19"/>
    <p:sldLayoutId id="2147483670" r:id="rId20"/>
    <p:sldLayoutId id="2147483671" r:id="rId21"/>
    <p:sldLayoutId id="2147483672" r:id="rId22"/>
    <p:sldLayoutId id="2147483673" r:id="rId23"/>
    <p:sldLayoutId id="2147483674" r:id="rId24"/>
    <p:sldLayoutId id="2147483675" r:id="rId25"/>
    <p:sldLayoutId id="2147483676" r:id="rId26"/>
    <p:sldLayoutId id="2147483677" r:id="rId27"/>
    <p:sldLayoutId id="2147483678" r:id="rId28"/>
    <p:sldLayoutId id="2147483679" r:id="rId29"/>
    <p:sldLayoutId id="2147483680" r:id="rId30"/>
    <p:sldLayoutId id="2147483681" r:id="rId31"/>
    <p:sldLayoutId id="2147483682" r:id="rId32"/>
    <p:sldLayoutId id="2147483683" r:id="rId33"/>
    <p:sldLayoutId id="2147483684" r:id="rId34"/>
    <p:sldLayoutId id="2147483685" r:id="rId35"/>
    <p:sldLayoutId id="2147483686" r:id="rId36"/>
    <p:sldLayoutId id="2147483687" r:id="rId37"/>
    <p:sldLayoutId id="2147483688" r:id="rId38"/>
    <p:sldLayoutId id="2147483689" r:id="rId39"/>
    <p:sldLayoutId id="2147483690" r:id="rId40"/>
    <p:sldLayoutId id="2147483691" r:id="rId41"/>
    <p:sldLayoutId id="2147483692" r:id="rId42"/>
    <p:sldLayoutId id="2147483693" r:id="rId43"/>
    <p:sldLayoutId id="2147483694" r:id="rId44"/>
    <p:sldLayoutId id="2147483695" r:id="rId45"/>
    <p:sldLayoutId id="2147483696" r:id="rId46"/>
    <p:sldLayoutId id="2147483697" r:id="rId47"/>
    <p:sldLayoutId id="2147483698" r:id="rId48"/>
    <p:sldLayoutId id="2147483699" r:id="rId49"/>
    <p:sldLayoutId id="2147483700" r:id="rId50"/>
    <p:sldLayoutId id="2147483701" r:id="rId5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E9D380B3-E270-4064-8D13-292A875F6C31}" type="datetime1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93428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2" r:id="rId1"/>
    <p:sldLayoutId id="2147483743" r:id="rId2"/>
    <p:sldLayoutId id="2147483744" r:id="rId3"/>
    <p:sldLayoutId id="2147483745" r:id="rId4"/>
    <p:sldLayoutId id="2147483746" r:id="rId5"/>
    <p:sldLayoutId id="2147483747" r:id="rId6"/>
    <p:sldLayoutId id="2147483748" r:id="rId7"/>
    <p:sldLayoutId id="2147483749" r:id="rId8"/>
    <p:sldLayoutId id="2147483750" r:id="rId9"/>
    <p:sldLayoutId id="2147483751" r:id="rId10"/>
    <p:sldLayoutId id="2147483752" r:id="rId11"/>
    <p:sldLayoutId id="2147483753" r:id="rId12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6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5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3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53.xml"/><Relationship Id="rId4" Type="http://schemas.openxmlformats.org/officeDocument/2006/relationships/image" Target="../media/image19.emf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5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D8BAD6-501C-A564-668E-EC1C25529F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373" y="4949294"/>
            <a:ext cx="11527371" cy="1389888"/>
          </a:xfrm>
        </p:spPr>
        <p:txBody>
          <a:bodyPr anchor="t">
            <a:normAutofit/>
          </a:bodyPr>
          <a:lstStyle/>
          <a:p>
            <a:r>
              <a:rPr lang="en-US" sz="2800" b="1" dirty="0"/>
              <a:t>Big Mountain Resort: Data-Driven Ticket Pricing &amp; Investment Strategy Report </a:t>
            </a:r>
            <a:br>
              <a:rPr lang="en-US" sz="2800" b="1" dirty="0"/>
            </a:br>
            <a:br>
              <a:rPr lang="en-US" sz="2800" b="1" dirty="0"/>
            </a:br>
            <a:r>
              <a:rPr lang="en-US" sz="2000" b="1" dirty="0"/>
              <a:t>November 19, 2025</a:t>
            </a:r>
            <a:br>
              <a:rPr lang="en-US" sz="2000" b="1" dirty="0"/>
            </a:br>
            <a:r>
              <a:rPr lang="en-US" sz="2000" b="1" dirty="0"/>
              <a:t>Presented by: Gayathri Ramani</a:t>
            </a:r>
            <a:endParaRPr lang="en-US" sz="2800" b="1" dirty="0"/>
          </a:p>
        </p:txBody>
      </p:sp>
      <p:pic>
        <p:nvPicPr>
          <p:cNvPr id="6" name="Picture Placeholder 5" descr="Cable cars">
            <a:extLst>
              <a:ext uri="{FF2B5EF4-FFF2-40B4-BE49-F238E27FC236}">
                <a16:creationId xmlns:a16="http://schemas.microsoft.com/office/drawing/2014/main" id="{80B181F2-D767-8BC4-780B-F750114B1514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300" b="21300"/>
          <a:stretch>
            <a:fillRect/>
          </a:stretch>
        </p:blipFill>
        <p:spPr>
          <a:noFill/>
        </p:spPr>
      </p:pic>
    </p:spTree>
    <p:extLst>
      <p:ext uri="{BB962C8B-B14F-4D97-AF65-F5344CB8AC3E}">
        <p14:creationId xmlns:p14="http://schemas.microsoft.com/office/powerpoint/2010/main" val="36434956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78C79-9B63-6FD8-3CD0-975FAC8D36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r>
              <a:rPr lang="en-US" dirty="0"/>
              <a:t>Big Mountain Resort: Key Questions</a:t>
            </a:r>
          </a:p>
        </p:txBody>
      </p:sp>
      <p:graphicFrame>
        <p:nvGraphicFramePr>
          <p:cNvPr id="7" name="Content Placeholder 3">
            <a:extLst>
              <a:ext uri="{FF2B5EF4-FFF2-40B4-BE49-F238E27FC236}">
                <a16:creationId xmlns:a16="http://schemas.microsoft.com/office/drawing/2014/main" id="{9497DE79-C939-000E-C968-F4FBCB6E7EB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18329380"/>
              </p:ext>
            </p:extLst>
          </p:nvPr>
        </p:nvGraphicFramePr>
        <p:xfrm>
          <a:off x="1096963" y="1846263"/>
          <a:ext cx="10058400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078737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r>
              <a:rPr lang="en-US" dirty="0"/>
              <a:t>Big Mountain Resort: Pricing &amp; Revenue Optimization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5B82616-460C-84B5-3EB4-F790FE4FFB1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90831411"/>
              </p:ext>
            </p:extLst>
          </p:nvPr>
        </p:nvGraphicFramePr>
        <p:xfrm>
          <a:off x="1096963" y="1846263"/>
          <a:ext cx="10058400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3741B58E-3B65-4A01-A276-975AB2CF8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AAC67C3-831B-4AB1-A259-DFB839CAFA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2370" y="605896"/>
            <a:ext cx="3084844" cy="5646208"/>
          </a:xfrm>
        </p:spPr>
        <p:txBody>
          <a:bodyPr anchor="ctr">
            <a:normAutofit/>
          </a:bodyPr>
          <a:lstStyle/>
          <a:p>
            <a:r>
              <a:rPr lang="en-US" sz="3300">
                <a:solidFill>
                  <a:srgbClr val="FFFFFF"/>
                </a:solidFill>
              </a:rPr>
              <a:t>Recommendation &amp; Key Insights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54B3F04-9EAC-45C0-B3CE-0387EEA10A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2016" y="605896"/>
            <a:ext cx="6413663" cy="5646208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b="1" dirty="0"/>
              <a:t>Primary Recommendation:</a:t>
            </a:r>
          </a:p>
          <a:p>
            <a:pPr marL="0" indent="0">
              <a:buNone/>
            </a:pPr>
            <a:r>
              <a:rPr lang="en-US" b="1" dirty="0"/>
              <a:t>Increase weekend ticket price from $81 to approximately $96</a:t>
            </a:r>
            <a:r>
              <a:rPr lang="en-US" dirty="0"/>
              <a:t> (model-predicted optimal price).</a:t>
            </a:r>
          </a:p>
          <a:p>
            <a:pPr marL="0" indent="0">
              <a:buNone/>
            </a:pPr>
            <a:r>
              <a:rPr lang="en-US" b="1" dirty="0"/>
              <a:t>Why?</a:t>
            </a:r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Model strongly indicates the resort is </a:t>
            </a:r>
            <a:r>
              <a:rPr lang="en-US" b="1" dirty="0"/>
              <a:t>undervalued</a:t>
            </a:r>
            <a:r>
              <a:rPr lang="en-US" dirty="0"/>
              <a:t> relative to peers.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Big Mountain’s infrastructure profile ranks high among competitors (vertical drop, chairs, snowmaking, fast quads).</a:t>
            </a:r>
          </a:p>
          <a:p>
            <a:pPr marL="0" indent="0">
              <a:buNone/>
            </a:pPr>
            <a:r>
              <a:rPr lang="en-US" b="1" dirty="0"/>
              <a:t>Key Findings:</a:t>
            </a:r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 dirty="0"/>
              <a:t>Random Forest</a:t>
            </a:r>
            <a:r>
              <a:rPr lang="en-US" dirty="0"/>
              <a:t> produced best accuracy (MAE ~ $8–$10).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 dirty="0"/>
              <a:t>Vertical Drop</a:t>
            </a:r>
            <a:r>
              <a:rPr lang="en-US" dirty="0"/>
              <a:t> is the most impactful pricing driver.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Expanding vertical drop raises optimal price by </a:t>
            </a:r>
            <a:r>
              <a:rPr lang="en-US" b="1" dirty="0"/>
              <a:t>~$8.61</a:t>
            </a:r>
            <a:r>
              <a:rPr lang="en-US" dirty="0"/>
              <a:t>, the largest investment payoff.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741B58E-3B65-4A01-A276-975AB2CF8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AAC67C3-831B-4AB1-A259-DFB839CAFA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2370" y="605896"/>
            <a:ext cx="3084844" cy="5646208"/>
          </a:xfrm>
        </p:spPr>
        <p:txBody>
          <a:bodyPr anchor="ctr">
            <a:normAutofit/>
          </a:bodyPr>
          <a:lstStyle/>
          <a:p>
            <a:r>
              <a:rPr lang="en-US" sz="3600">
                <a:solidFill>
                  <a:srgbClr val="FFFFFF"/>
                </a:solidFill>
              </a:rPr>
              <a:t>Data &amp; Approach Overview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54B3F04-9EAC-45C0-B3CE-0387EEA10A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2016" y="605896"/>
            <a:ext cx="6413663" cy="5646208"/>
          </a:xfrm>
        </p:spPr>
        <p:txBody>
          <a:bodyPr anchor="t">
            <a:normAutofit/>
          </a:bodyPr>
          <a:lstStyle/>
          <a:p>
            <a:r>
              <a:rPr b="1" dirty="0"/>
              <a:t>Dataset</a:t>
            </a:r>
            <a:endParaRPr lang="en-US" b="1" dirty="0"/>
          </a:p>
          <a:p>
            <a:pPr lvl="1">
              <a:buFont typeface="Arial" panose="020B0604020202020204" pitchFamily="34" charset="0"/>
              <a:buChar char="•"/>
            </a:pPr>
            <a:r>
              <a:rPr dirty="0"/>
              <a:t>330 </a:t>
            </a:r>
            <a:r>
              <a:rPr lang="en-US" dirty="0"/>
              <a:t>ski resorts, 27 variables        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After cleaning: 277 resorts, 25 feature variables</a:t>
            </a:r>
            <a:endParaRPr dirty="0"/>
          </a:p>
          <a:p>
            <a:r>
              <a:rPr lang="en-US" b="1" dirty="0"/>
              <a:t>Target variable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Weekend Adult price </a:t>
            </a:r>
          </a:p>
          <a:p>
            <a:r>
              <a:rPr lang="en-US" b="1" dirty="0"/>
              <a:t>Core variables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Terrain, number of lifts, snowmaking, resort size, resort infrastructure, season length</a:t>
            </a:r>
          </a:p>
          <a:p>
            <a:r>
              <a:rPr lang="en-US" b="1" dirty="0"/>
              <a:t>Methodology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Data cleaning &amp; pre-processing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Exploratory data analysis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Feature engineering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Modeling &amp; validation (Linear Regression, </a:t>
            </a:r>
            <a:r>
              <a:rPr lang="en-US" b="1" dirty="0"/>
              <a:t>Random Forest</a:t>
            </a:r>
            <a:r>
              <a:rPr lang="en-US" dirty="0"/>
              <a:t>)</a:t>
            </a:r>
            <a:endParaRPr lang="en-US" dirty="0">
              <a:sym typeface="Wingdings" panose="05000000000000000000" pitchFamily="2" charset="2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sym typeface="Wingdings" panose="05000000000000000000" pitchFamily="2" charset="2"/>
              </a:rPr>
              <a:t>Scenario modeling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sym typeface="Wingdings" panose="05000000000000000000" pitchFamily="2" charset="2"/>
              </a:rPr>
              <a:t>Pricing &amp; Investment recommendations 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3741B58E-3B65-4A01-A276-975AB2CF8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AAC67C3-831B-4AB1-A259-DFB839CAFA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2370" y="605896"/>
            <a:ext cx="3084844" cy="5646208"/>
          </a:xfrm>
        </p:spPr>
        <p:txBody>
          <a:bodyPr anchor="ctr">
            <a:normAutofit/>
          </a:bodyPr>
          <a:lstStyle/>
          <a:p>
            <a:r>
              <a:rPr lang="en-US" sz="3600">
                <a:solidFill>
                  <a:srgbClr val="FFFFFF"/>
                </a:solidFill>
              </a:rPr>
              <a:t>Drivers of Ticket Price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54B3F04-9EAC-45C0-B3CE-0387EEA10A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2016" y="605896"/>
            <a:ext cx="6413663" cy="5646208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b="1" dirty="0"/>
              <a:t>T</a:t>
            </a:r>
            <a:r>
              <a:rPr lang="en-US" b="1" dirty="0"/>
              <a:t>o</a:t>
            </a:r>
            <a:r>
              <a:rPr b="1" dirty="0"/>
              <a:t>p predictors</a:t>
            </a:r>
            <a:r>
              <a:rPr lang="en-US" b="1" dirty="0"/>
              <a:t> identified: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Vertical drop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Sn</a:t>
            </a:r>
            <a:r>
              <a:rPr dirty="0"/>
              <a:t>owmaking capacity</a:t>
            </a:r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r>
              <a:rPr dirty="0"/>
              <a:t>Number of fast quads</a:t>
            </a:r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T</a:t>
            </a:r>
            <a:r>
              <a:rPr dirty="0"/>
              <a:t>otal chairs and runs</a:t>
            </a:r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Skiable terrain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Availability of night skiing </a:t>
            </a:r>
          </a:p>
          <a:p>
            <a:pPr marL="0" indent="0">
              <a:buNone/>
            </a:pPr>
            <a:r>
              <a:rPr lang="en-US" b="1" dirty="0"/>
              <a:t>Insights: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Strong correlations between terrain and lift infrastructure capacity and pricing.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PCA showed that 75%+ of variance explained by first two components</a:t>
            </a:r>
            <a:endParaRPr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97DC270-453E-A6BE-F8A2-2D22F1E6A2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7873" y="4593057"/>
            <a:ext cx="2275840" cy="128016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28E6DD7-1694-0A10-EC43-A54DDDEDF9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7264" y="4610253"/>
            <a:ext cx="2498622" cy="128016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92FAC70-0945-8FA2-5AF3-3A86215C00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5886" y="4593057"/>
            <a:ext cx="2262610" cy="12801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741B58E-3B65-4A01-A276-975AB2CF8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AAC67C3-831B-4AB1-A259-DFB839CAFA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2370" y="605896"/>
            <a:ext cx="3084844" cy="5646208"/>
          </a:xfrm>
        </p:spPr>
        <p:txBody>
          <a:bodyPr anchor="ctr">
            <a:normAutofit/>
          </a:bodyPr>
          <a:lstStyle/>
          <a:p>
            <a:r>
              <a:rPr lang="en-US" sz="3600">
                <a:solidFill>
                  <a:srgbClr val="FFFFFF"/>
                </a:solidFill>
              </a:rPr>
              <a:t>Model Performance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54B3F04-9EAC-45C0-B3CE-0387EEA10A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2016" y="605896"/>
            <a:ext cx="6413663" cy="5646208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b="1" dirty="0"/>
              <a:t>Baseline Mean Model:</a:t>
            </a:r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MAE ≈ $19 → validated need for ML-based modeling.</a:t>
            </a:r>
            <a:endParaRPr lang="en-US" b="1" dirty="0"/>
          </a:p>
          <a:p>
            <a:pPr marL="0" indent="0">
              <a:buNone/>
            </a:pPr>
            <a:r>
              <a:rPr lang="en-US" b="1" dirty="0"/>
              <a:t>Models Tested:</a:t>
            </a:r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Linear Regression (scaled features)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Random Forest Regressor</a:t>
            </a:r>
          </a:p>
          <a:p>
            <a:pPr marL="0" indent="0">
              <a:buNone/>
            </a:pPr>
            <a:r>
              <a:rPr lang="en-US" b="1" dirty="0"/>
              <a:t>Performance Summary:</a:t>
            </a:r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Linear Regression: MAE ≈ $9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Random Forest: MAE ≈ $8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Random Forest chosen for </a:t>
            </a:r>
            <a:r>
              <a:rPr lang="en-US" b="1" dirty="0"/>
              <a:t>stability, accuracy, and ability to capture nonlinear relationships</a:t>
            </a:r>
            <a:r>
              <a:rPr lang="en-US" dirty="0"/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22F24FD-DAB3-F42E-BA65-0860064C17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4240" y="4091940"/>
            <a:ext cx="4094480" cy="266023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DEAB09D-F4C6-ACE1-5BB3-5C8FE064CF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741B58E-3B65-4A01-A276-975AB2CF8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AAC67C3-831B-4AB1-A259-DFB839CAFA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16FD24-58F2-8AAF-A9B4-3FFBE12B40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70" y="605896"/>
            <a:ext cx="3084844" cy="5646208"/>
          </a:xfrm>
        </p:spPr>
        <p:txBody>
          <a:bodyPr anchor="ctr">
            <a:normAutofit/>
          </a:bodyPr>
          <a:lstStyle/>
          <a:p>
            <a:r>
              <a:rPr lang="en-US" sz="3600">
                <a:solidFill>
                  <a:srgbClr val="FFFFFF"/>
                </a:solidFill>
              </a:rPr>
              <a:t>Optimal Price Prediction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54B3F04-9EAC-45C0-B3CE-0387EEA10A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E5D858-42AD-3ACC-2013-E3EAB96445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2016" y="605896"/>
            <a:ext cx="6413663" cy="5646208"/>
          </a:xfrm>
        </p:spPr>
        <p:txBody>
          <a:bodyPr anchor="t">
            <a:normAutofit/>
          </a:bodyPr>
          <a:lstStyle/>
          <a:p>
            <a:r>
              <a:rPr lang="en-US" b="1" dirty="0"/>
              <a:t>Big Mountain Current Price:</a:t>
            </a:r>
            <a:r>
              <a:rPr lang="en-US" dirty="0"/>
              <a:t> </a:t>
            </a:r>
            <a:r>
              <a:rPr lang="en-US" b="1" dirty="0"/>
              <a:t>$81</a:t>
            </a:r>
            <a:br>
              <a:rPr lang="en-US" dirty="0"/>
            </a:br>
            <a:r>
              <a:rPr lang="en-US" b="1" dirty="0"/>
              <a:t>Predicted Market-Aligned Price:</a:t>
            </a:r>
            <a:r>
              <a:rPr lang="en-US" dirty="0"/>
              <a:t> </a:t>
            </a:r>
            <a:r>
              <a:rPr lang="en-US" b="1" dirty="0"/>
              <a:t>$95.87</a:t>
            </a:r>
          </a:p>
          <a:p>
            <a:br>
              <a:rPr lang="en-US" dirty="0"/>
            </a:br>
            <a:r>
              <a:rPr lang="en-US" b="1" dirty="0"/>
              <a:t>Interpretation:</a:t>
            </a:r>
            <a:br>
              <a:rPr lang="en-US" dirty="0"/>
            </a:br>
            <a:r>
              <a:rPr lang="en-US" dirty="0"/>
              <a:t>Even after accounting for error range, the model strongly indicates </a:t>
            </a:r>
            <a:r>
              <a:rPr lang="en-US" b="1" dirty="0"/>
              <a:t>significant underpricing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b="1" dirty="0"/>
              <a:t>Comparative Positioning:</a:t>
            </a:r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High vertical drop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Strong snowmaking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High number of chairs and runs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Competitive resort infrastructure→ Justifies higher price.</a:t>
            </a:r>
          </a:p>
        </p:txBody>
      </p:sp>
    </p:spTree>
    <p:extLst>
      <p:ext uri="{BB962C8B-B14F-4D97-AF65-F5344CB8AC3E}">
        <p14:creationId xmlns:p14="http://schemas.microsoft.com/office/powerpoint/2010/main" val="23231661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5E4D10-E3BE-D38A-6EE1-D23F39C26C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741B58E-3B65-4A01-A276-975AB2CF8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AAC67C3-831B-4AB1-A259-DFB839CAFA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E2D4E7-7D81-982C-7A20-FC1DF3167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70" y="605896"/>
            <a:ext cx="3084844" cy="5646208"/>
          </a:xfrm>
        </p:spPr>
        <p:txBody>
          <a:bodyPr anchor="ctr">
            <a:normAutofit/>
          </a:bodyPr>
          <a:lstStyle/>
          <a:p>
            <a:r>
              <a:rPr lang="en-US" sz="3600">
                <a:solidFill>
                  <a:srgbClr val="FFFFFF"/>
                </a:solidFill>
              </a:rPr>
              <a:t>Scenario Modeling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54B3F04-9EAC-45C0-B3CE-0387EEA10A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F9CB57-8902-6349-8B93-A44604CCC6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2016" y="605896"/>
            <a:ext cx="6413663" cy="5646208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b="1" dirty="0"/>
              <a:t>Most Impactful Scenario:</a:t>
            </a:r>
            <a:r>
              <a:rPr lang="en-US" dirty="0"/>
              <a:t> </a:t>
            </a:r>
            <a:r>
              <a:rPr lang="en-US" b="1" dirty="0"/>
              <a:t>Vertical Drop Expansion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Increases predicted ticket price by </a:t>
            </a:r>
            <a:r>
              <a:rPr lang="en-US" b="1" dirty="0"/>
              <a:t>≈ $8.61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b="1" dirty="0"/>
              <a:t>Additional Add-ons:</a:t>
            </a:r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Snowmaking expansion → marginal additional benefit (~$1.29 increase).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Run changes, longest-run extensions → minimal price impact.</a:t>
            </a:r>
          </a:p>
          <a:p>
            <a:pPr marL="0" indent="0">
              <a:buNone/>
            </a:pPr>
            <a:r>
              <a:rPr lang="en-US" b="1" dirty="0"/>
              <a:t>Takeaway: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Vertical drop expansion is the </a:t>
            </a:r>
            <a:r>
              <a:rPr lang="en-US" b="1" dirty="0"/>
              <a:t>highest ROI investment</a:t>
            </a:r>
            <a:r>
              <a:rPr lang="en-US" dirty="0"/>
              <a:t> for strengthening pricing power.</a:t>
            </a:r>
          </a:p>
        </p:txBody>
      </p:sp>
    </p:spTree>
    <p:extLst>
      <p:ext uri="{BB962C8B-B14F-4D97-AF65-F5344CB8AC3E}">
        <p14:creationId xmlns:p14="http://schemas.microsoft.com/office/powerpoint/2010/main" val="8420928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7531F5-03AF-1B15-6932-5FFBED488A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741B58E-3B65-4A01-A276-975AB2CF8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AAC67C3-831B-4AB1-A259-DFB839CAFA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9E15FFE-42D3-7929-543B-C7FE05CCEA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70" y="605896"/>
            <a:ext cx="3084844" cy="5646208"/>
          </a:xfrm>
        </p:spPr>
        <p:txBody>
          <a:bodyPr anchor="ctr">
            <a:normAutofit/>
          </a:bodyPr>
          <a:lstStyle/>
          <a:p>
            <a:r>
              <a:rPr lang="en-US" sz="3600">
                <a:solidFill>
                  <a:srgbClr val="FFFFFF"/>
                </a:solidFill>
              </a:rPr>
              <a:t>Conclusion &amp; Next Steps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54B3F04-9EAC-45C0-B3CE-0387EEA10A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9976C4-3CA7-F4BB-1446-703BFAB378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2016" y="605896"/>
            <a:ext cx="6413663" cy="5646208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b="1" dirty="0"/>
              <a:t>Conclusion: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Big Mountain Resort is </a:t>
            </a:r>
            <a:r>
              <a:rPr lang="en-US" b="1" dirty="0"/>
              <a:t>likely underpricing</a:t>
            </a:r>
            <a:r>
              <a:rPr lang="en-US" dirty="0"/>
              <a:t> relative to market value.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A data-aligned pricing increase and strategic investment in vertical drop expansion positions the resort to achieve its </a:t>
            </a:r>
            <a:r>
              <a:rPr lang="en-US" b="1" dirty="0"/>
              <a:t>10% revenue growth target</a:t>
            </a:r>
            <a:r>
              <a:rPr lang="en-US" dirty="0"/>
              <a:t>.</a:t>
            </a:r>
          </a:p>
          <a:p>
            <a:r>
              <a:rPr lang="en-US" b="1" dirty="0"/>
              <a:t>Next Steps:</a:t>
            </a:r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Phased price increase with ongoing customer-feedback monitoring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Feasibility study for vertical drop expansion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Competitor research &amp; willingness-to-pay surveys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Consider integrating operational costs and visitor demographics into next model iteration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Build real-time scenario simulation dashboard for leadership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089146"/>
      </p:ext>
    </p:extLst>
  </p:cSld>
  <p:clrMapOvr>
    <a:masterClrMapping/>
  </p:clrMapOvr>
</p:sld>
</file>

<file path=ppt/theme/theme1.xml><?xml version="1.0" encoding="utf-8"?>
<a:theme xmlns:a="http://schemas.openxmlformats.org/drawingml/2006/main" name="Dune">
  <a:themeElements>
    <a:clrScheme name="Dune">
      <a:dk1>
        <a:srgbClr val="131313"/>
      </a:dk1>
      <a:lt1>
        <a:sysClr val="window" lastClr="FFFFFF"/>
      </a:lt1>
      <a:dk2>
        <a:srgbClr val="203430"/>
      </a:dk2>
      <a:lt2>
        <a:srgbClr val="F0EDE6"/>
      </a:lt2>
      <a:accent1>
        <a:srgbClr val="A57361"/>
      </a:accent1>
      <a:accent2>
        <a:srgbClr val="CD9979"/>
      </a:accent2>
      <a:accent3>
        <a:srgbClr val="4E6C67"/>
      </a:accent3>
      <a:accent4>
        <a:srgbClr val="BA958C"/>
      </a:accent4>
      <a:accent5>
        <a:srgbClr val="A08C60"/>
      </a:accent5>
      <a:accent6>
        <a:srgbClr val="956969"/>
      </a:accent6>
      <a:hlink>
        <a:srgbClr val="B0685E"/>
      </a:hlink>
      <a:folHlink>
        <a:srgbClr val="5E827E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une" id="{826328CA-5F67-4711-B85D-145ABD90F0C2}" vid="{19057A55-7D5A-4630-9E53-CA5ED6447771}"/>
    </a:ext>
  </a:extLst>
</a:theme>
</file>

<file path=ppt/theme/theme2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292</TotalTime>
  <Words>587</Words>
  <Application>Microsoft Office PowerPoint</Application>
  <PresentationFormat>Widescreen</PresentationFormat>
  <Paragraphs>85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Aptos</vt:lpstr>
      <vt:lpstr>Arial</vt:lpstr>
      <vt:lpstr>Calibri</vt:lpstr>
      <vt:lpstr>Calibri Light</vt:lpstr>
      <vt:lpstr>Neue Haas Grotesk Text Pro</vt:lpstr>
      <vt:lpstr>Wingdings</vt:lpstr>
      <vt:lpstr>Dune</vt:lpstr>
      <vt:lpstr>Retrospect</vt:lpstr>
      <vt:lpstr>Big Mountain Resort: Data-Driven Ticket Pricing &amp; Investment Strategy Report   November 19, 2025 Presented by: Gayathri Ramani</vt:lpstr>
      <vt:lpstr>Big Mountain Resort: Key Questions</vt:lpstr>
      <vt:lpstr>Big Mountain Resort: Pricing &amp; Revenue Optimization</vt:lpstr>
      <vt:lpstr>Recommendation &amp; Key Insights</vt:lpstr>
      <vt:lpstr>Data &amp; Approach Overview</vt:lpstr>
      <vt:lpstr>Drivers of Ticket Price</vt:lpstr>
      <vt:lpstr>Model Performance</vt:lpstr>
      <vt:lpstr>Optimal Price Prediction</vt:lpstr>
      <vt:lpstr>Scenario Modeling</vt:lpstr>
      <vt:lpstr>Conclusion &amp; Next Steps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Abhimanyu Kumbara</dc:creator>
  <cp:lastModifiedBy>Abhimanyu Kumbara</cp:lastModifiedBy>
  <cp:revision>3</cp:revision>
  <dcterms:created xsi:type="dcterms:W3CDTF">2025-11-18T21:33:07Z</dcterms:created>
  <dcterms:modified xsi:type="dcterms:W3CDTF">2025-11-19T19:40:10Z</dcterms:modified>
</cp:coreProperties>
</file>